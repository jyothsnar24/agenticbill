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we're the team behind Agenticbill. Every company that sells into an enterprise eventually gets hit with a security questionnaire, and answering it well usually takes days and a lot of guessing. We built an AI Security Analyst that investigates before it answers, and it follows one rule above everything else: it never invents an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real questionnaire we built against: 65 questions across 14 topics, MFA, encryption, backups, offboarding, and dozens more. The answers already exist inside the company, but they're scattered across policy documents, Slack threads, and infrastructure notes. Worse, they sometimes contradict each other. A policy might say MFA is mandatory, while a message says a contractor never actually enrolled. That gap between what's written and what's true is exactly what we're solving.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Agenticbill behaves like a real analyst, not a form-filler. It searches company evidence first, before it ever asks a person anything. When an answer is vague, it asks for the specific missing detail instead of accepting it. When two pieces of evidence disagree, it surfaces the contradiction instead of quietly picking one. It remembers what's already been confirmed so nobody answers the same question twice. And it works toward one goal: a fully completed questionnaire it can stand 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idea, and it's the reason judges should care: every single answer carries an honest confidence level, not just a yes or no. Verified means we found it in a real document. User-confirmed means a person told us, but there's no paper trail yet. Partial means we know some of it, not all. Conflict means two sources disagree, and we're not going to guess which one is right. And Unknown just means we haven't found it yet, which is a far more honest answer than making one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the hood it's one bounded loop. Read-only connectors pull in company files, Slack, Drive, and GitHub. Everything gets hashed and versioned so we only re-process what actually changed. Retrieval is hybrid, keyword search plus vector similarity, and it's ranked so the model only ever sees a short, high-quality shortlist, never the raw database. The chat agent runs a small tool loop, hands anything it extracts to a deterministic claim and conflict engine, and that engine is what actually updates the security profile and the questionnaire dashboard. When it hits a conflict, it loops back and asks one targeted follow-up question instead of stalling.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kept the stack small on purpose. Next.js and the Vercel AI SDK give us streaming chat and tool-calling for free, we forked it from the official Vercel AI Chatbot template so we didn't reinvent the UI. Postgres with pgvector is one database doing both structured claim storage and vector search, which means one less system to keep in sync. Azure OpenAI handles chat and embeddings when it's configured, and it falls back to the Vercel AI Gateway otherwise, so the product never just breaks if a deployment isn't set up. And every connector honestly reports its own status, ready, demo, or needs setup, so nobody's misled about what's actually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isn't a toy demo running on made-up data. We seeded it with Regodit's actual security posture: 13 real company policies, the real 65-question vendor questionnaire, SOC 2 and penetration test reports, access review records, and the asset inventory, 18 sources in total, all hashed, chunked, and embedded. [Switch to the live app here and ask one of these questions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actually gets stored, not the raw text chunk, but a structured claim like this one. MFA, enabled, true, scoped to Google Workspace, verified, backed by a specific evidence chunk, with a confidence score. A claim is never marked verified without evidence behind it. If it only came from a person's word, it's user underscore confirmed, a real but weaker status. If two claims about the same fact disagree, that's a conflict, and the assistant asks about it rather than picking a side. And if something changes later, we version it. We never silently overwrite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also want to be upfront about what we deliberately didn't build. We didn't reach for LangGraph, because a bounded five-step loop doesn't need durable checkpointed workflows yet. We skipped autonomous Deep Agents, because this problem needs a controlled, auditable trail, not open-ended delegation. We wrote our own retrieval instead of adopting a RAG framework, because versioned hashing and claim separation are specific enough to this domain that a generic library would fight us. And we didn't build a generic connector abstraction before we had enough real integrations to know what it should even look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we take this next: getting Slack and GitHub fully live instead of running in demo mode, supporting multiple workspaces so one analyst can serve many companies with isolated evidence, and mapping every questionnaire answer directly to its SOC 2 control. Thanks for listening, happy to answer questions or walk through the live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826"/>
        </a:solidFill>
      </p:bgPr>
    </p:bg>
    <p:spTree>
      <p:nvGrpSpPr>
        <p:cNvPr id="1" name=""/>
        <p:cNvGrpSpPr/>
        <p:nvPr/>
      </p:nvGrpSpPr>
      <p:grpSpPr>
        <a:xfrm>
          <a:off x="0" y="0"/>
          <a:ext cx="0" cy="0"/>
          <a:chOff x="0" y="0"/>
          <a:chExt cx="0" cy="0"/>
        </a:xfrm>
      </p:grpSpPr>
      <p:sp>
        <p:nvSpPr>
          <p:cNvPr id="2" name="Shape 0"/>
          <p:cNvSpPr/>
          <p:nvPr/>
        </p:nvSpPr>
        <p:spPr>
          <a:xfrm>
            <a:off x="8778240" y="-2194560"/>
            <a:ext cx="5943600" cy="5943600"/>
          </a:xfrm>
          <a:prstGeom prst="ellipse">
            <a:avLst/>
          </a:prstGeom>
          <a:solidFill>
            <a:srgbClr val="1B2A41"/>
          </a:solidFill>
          <a:ln w="12700">
            <a:solidFill>
              <a:srgbClr val="1B2A41"/>
            </a:solidFill>
            <a:prstDash val="solid"/>
          </a:ln>
        </p:spPr>
      </p:sp>
      <p:sp>
        <p:nvSpPr>
          <p:cNvPr id="3" name="Shape 1"/>
          <p:cNvSpPr/>
          <p:nvPr/>
        </p:nvSpPr>
        <p:spPr>
          <a:xfrm>
            <a:off x="10607040" y="4206240"/>
            <a:ext cx="3291840" cy="3291840"/>
          </a:xfrm>
          <a:prstGeom prst="ellipse">
            <a:avLst/>
          </a:prstGeom>
          <a:solidFill>
            <a:srgbClr val="223353"/>
          </a:solidFill>
          <a:ln w="12700">
            <a:solidFill>
              <a:srgbClr val="223353"/>
            </a:solidFill>
            <a:prstDash val="solid"/>
          </a:ln>
        </p:spPr>
      </p:sp>
      <p:sp>
        <p:nvSpPr>
          <p:cNvPr id="4" name="Shape 2"/>
          <p:cNvSpPr/>
          <p:nvPr/>
        </p:nvSpPr>
        <p:spPr>
          <a:xfrm>
            <a:off x="548640" y="640080"/>
            <a:ext cx="640080" cy="640080"/>
          </a:xfrm>
          <a:prstGeom prst="ellipse">
            <a:avLst/>
          </a:prstGeom>
          <a:solidFill>
            <a:srgbClr val="CADCFC"/>
          </a:solidFill>
          <a:ln w="12700">
            <a:solidFill>
              <a:srgbClr val="CADCFC"/>
            </a:solidFill>
            <a:prstDash val="solid"/>
          </a:ln>
        </p:spPr>
      </p:sp>
      <p:pic>
        <p:nvPicPr>
          <p:cNvPr id="5" name="Image 0" descr="/tmp/claude-0/-home-claude/4d7af575-a239-5aaf-bcca-b53c3061710f/scratchpad/icons/shield-navy.png">    </p:cNvPr>
          <p:cNvPicPr>
            <a:picLocks noChangeAspect="1"/>
          </p:cNvPicPr>
          <p:nvPr/>
        </p:nvPicPr>
        <p:blipFill>
          <a:blip r:embed="rId1"/>
          <a:stretch>
            <a:fillRect/>
          </a:stretch>
        </p:blipFill>
        <p:spPr>
          <a:xfrm>
            <a:off x="715061" y="806501"/>
            <a:ext cx="307238" cy="307238"/>
          </a:xfrm>
          <a:prstGeom prst="rect">
            <a:avLst/>
          </a:prstGeom>
        </p:spPr>
      </p:pic>
      <p:sp>
        <p:nvSpPr>
          <p:cNvPr id="6" name="Text 3"/>
          <p:cNvSpPr txBox="1"/>
          <p:nvPr/>
        </p:nvSpPr>
        <p:spPr>
          <a:xfrm>
            <a:off x="1371600" y="658368"/>
            <a:ext cx="5486400" cy="548640"/>
          </a:xfrm>
          <a:prstGeom prst="rect">
            <a:avLst/>
          </a:prstGeom>
          <a:noFill/>
          <a:ln/>
        </p:spPr>
        <p:txBody>
          <a:bodyPr wrap="square" lIns="0" tIns="0" rIns="0" bIns="0" rtlCol="0" anchor="ctr"/>
          <a:lstStyle/>
          <a:p>
            <a:pPr indent="0" marL="0">
              <a:buNone/>
            </a:pPr>
            <a:r>
              <a:rPr lang="en-US" sz="1400" b="1" spc="300" kern="0" dirty="0">
                <a:solidFill>
                  <a:srgbClr val="CADCFC"/>
                </a:solidFill>
                <a:latin typeface="Calibri" pitchFamily="34" charset="0"/>
                <a:ea typeface="Calibri" pitchFamily="34" charset="-122"/>
                <a:cs typeface="Calibri" pitchFamily="34" charset="-120"/>
              </a:rPr>
              <a:t>AGENTICBILL</a:t>
            </a:r>
            <a:endParaRPr lang="en-US" sz="1400" dirty="0"/>
          </a:p>
        </p:txBody>
      </p:sp>
      <p:sp>
        <p:nvSpPr>
          <p:cNvPr id="7" name="Text 4"/>
          <p:cNvSpPr txBox="1"/>
          <p:nvPr/>
        </p:nvSpPr>
        <p:spPr>
          <a:xfrm>
            <a:off x="548640" y="2286000"/>
            <a:ext cx="9601200" cy="118872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AI Security Analyst</a:t>
            </a:r>
            <a:endParaRPr lang="en-US" sz="4800" dirty="0"/>
          </a:p>
        </p:txBody>
      </p:sp>
      <p:sp>
        <p:nvSpPr>
          <p:cNvPr id="8" name="Text 5"/>
          <p:cNvSpPr txBox="1"/>
          <p:nvPr/>
        </p:nvSpPr>
        <p:spPr>
          <a:xfrm>
            <a:off x="566928" y="3337560"/>
            <a:ext cx="8686800" cy="548640"/>
          </a:xfrm>
          <a:prstGeom prst="rect">
            <a:avLst/>
          </a:prstGeom>
          <a:noFill/>
          <a:ln/>
        </p:spPr>
        <p:txBody>
          <a:bodyPr wrap="square" lIns="0" tIns="0" rIns="0" bIns="0" rtlCol="0" anchor="ctr"/>
          <a:lstStyle/>
          <a:p>
            <a:pPr indent="0" marL="0">
              <a:buNone/>
            </a:pPr>
            <a:r>
              <a:rPr lang="en-US" sz="1800" i="1" dirty="0">
                <a:solidFill>
                  <a:srgbClr val="CADCFC"/>
                </a:solidFill>
                <a:latin typeface="Calibri" pitchFamily="34" charset="0"/>
                <a:ea typeface="Calibri" pitchFamily="34" charset="-122"/>
                <a:cs typeface="Calibri" pitchFamily="34" charset="-120"/>
              </a:rPr>
              <a:t>Search before asking. Ask when it matters. Never invent an answer.</a:t>
            </a:r>
            <a:endParaRPr lang="en-US" sz="1800" dirty="0"/>
          </a:p>
        </p:txBody>
      </p:sp>
      <p:sp>
        <p:nvSpPr>
          <p:cNvPr id="9" name="Text 6"/>
          <p:cNvSpPr txBox="1"/>
          <p:nvPr/>
        </p:nvSpPr>
        <p:spPr>
          <a:xfrm>
            <a:off x="548640" y="5806440"/>
            <a:ext cx="7315200" cy="365760"/>
          </a:xfrm>
          <a:prstGeom prst="rect">
            <a:avLst/>
          </a:prstGeom>
          <a:noFill/>
          <a:ln/>
        </p:spPr>
        <p:txBody>
          <a:bodyPr wrap="square" lIns="0" tIns="0" rIns="0" bIns="0" rtlCol="0" anchor="ctr"/>
          <a:lstStyle/>
          <a:p>
            <a:pPr indent="0" marL="0">
              <a:buNone/>
            </a:pPr>
            <a:r>
              <a:rPr lang="en-US" sz="1300" b="1" dirty="0">
                <a:solidFill>
                  <a:srgbClr val="8FA6C9"/>
                </a:solidFill>
                <a:latin typeface="Calibri" pitchFamily="34" charset="0"/>
                <a:ea typeface="Calibri" pitchFamily="34" charset="-122"/>
                <a:cs typeface="Calibri" pitchFamily="34" charset="-120"/>
              </a:rPr>
              <a:t>RegoDIT Hackathon  •  Risk &amp; Compliance Track</a:t>
            </a:r>
            <a:endParaRPr lang="en-US" sz="1300" dirty="0"/>
          </a:p>
        </p:txBody>
      </p:sp>
      <p:sp>
        <p:nvSpPr>
          <p:cNvPr id="10" name="Text 7"/>
          <p:cNvSpPr txBox="1"/>
          <p:nvPr/>
        </p:nvSpPr>
        <p:spPr>
          <a:xfrm>
            <a:off x="548640" y="6144768"/>
            <a:ext cx="7315200" cy="365760"/>
          </a:xfrm>
          <a:prstGeom prst="rect">
            <a:avLst/>
          </a:prstGeom>
          <a:noFill/>
          <a:ln/>
        </p:spPr>
        <p:txBody>
          <a:bodyPr wrap="square" lIns="0" tIns="0" rIns="0" bIns="0" rtlCol="0" anchor="ctr"/>
          <a:lstStyle/>
          <a:p>
            <a:pPr indent="0" marL="0">
              <a:buNone/>
            </a:pPr>
            <a:r>
              <a:rPr lang="en-US" sz="1300" dirty="0">
                <a:solidFill>
                  <a:srgbClr val="8FA6C9"/>
                </a:solidFill>
                <a:latin typeface="Calibri" pitchFamily="34" charset="0"/>
                <a:ea typeface="Calibri" pitchFamily="34" charset="-122"/>
                <a:cs typeface="Calibri" pitchFamily="34" charset="-120"/>
              </a:rPr>
              <a:t>Jyothsna R  •  Kaushik Kumar  •  Kolar Ravindra Kumar</a:t>
            </a:r>
            <a:endParaRPr lang="en-US" sz="1300" dirty="0"/>
          </a:p>
        </p:txBody>
      </p:sp>
      <p:sp>
        <p:nvSpPr>
          <p:cNvPr id="11" name="Text 8"/>
          <p:cNvSpPr txBox="1"/>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01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THE PROBLEM</a:t>
            </a:r>
            <a:endParaRPr lang="en-US" sz="1200" dirty="0"/>
          </a:p>
        </p:txBody>
      </p:sp>
      <p:sp>
        <p:nvSpPr>
          <p:cNvPr id="3" name="Text 1"/>
          <p:cNvSpPr txBox="1"/>
          <p:nvPr/>
        </p:nvSpPr>
        <p:spPr>
          <a:xfrm>
            <a:off x="548640" y="713232"/>
            <a:ext cx="11091672" cy="822960"/>
          </a:xfrm>
          <a:prstGeom prst="rect">
            <a:avLst/>
          </a:prstGeom>
          <a:noFill/>
          <a:ln/>
        </p:spPr>
        <p:txBody>
          <a:bodyPr wrap="square" lIns="0" tIns="0" rIns="0" bIns="0" rtlCol="0" anchor="ctr"/>
          <a:lstStyle/>
          <a:p>
            <a:pPr indent="0" marL="0">
              <a:buNone/>
            </a:pPr>
            <a:r>
              <a:rPr lang="en-US" sz="3000" b="1" dirty="0">
                <a:solidFill>
                  <a:srgbClr val="17202B"/>
                </a:solidFill>
                <a:latin typeface="Cambria" pitchFamily="34" charset="0"/>
                <a:ea typeface="Cambria" pitchFamily="34" charset="-122"/>
                <a:cs typeface="Cambria" pitchFamily="34" charset="-120"/>
              </a:rPr>
              <a:t>Enterprise sales runs on a questionnaire nobody enjoys answering</a:t>
            </a:r>
            <a:endParaRPr lang="en-US" sz="3000" dirty="0"/>
          </a:p>
        </p:txBody>
      </p:sp>
      <p:sp>
        <p:nvSpPr>
          <p:cNvPr id="4" name="Shape 2"/>
          <p:cNvSpPr/>
          <p:nvPr/>
        </p:nvSpPr>
        <p:spPr>
          <a:xfrm>
            <a:off x="548640" y="1783080"/>
            <a:ext cx="4480560" cy="4206240"/>
          </a:xfrm>
          <a:prstGeom prst="roundRect">
            <a:avLst>
              <a:gd name="adj" fmla="val 2609"/>
            </a:avLst>
          </a:prstGeom>
          <a:solidFill>
            <a:srgbClr val="FFFFFF"/>
          </a:solidFill>
          <a:ln w="12700">
            <a:solidFill>
              <a:srgbClr val="E1E6EB"/>
            </a:solidFill>
            <a:prstDash val="solid"/>
          </a:ln>
          <a:effectLst>
            <a:outerShdw sx="100000" sy="100000" kx="0" ky="0" algn="bl" rotWithShape="0" blurRad="101600" dist="38100" dir="5400000">
              <a:srgbClr val="000000">
                <a:alpha val="8000"/>
              </a:srgbClr>
            </a:outerShdw>
          </a:effectLst>
        </p:spPr>
      </p:sp>
      <p:sp>
        <p:nvSpPr>
          <p:cNvPr id="5" name="Text 3"/>
          <p:cNvSpPr txBox="1"/>
          <p:nvPr/>
        </p:nvSpPr>
        <p:spPr>
          <a:xfrm>
            <a:off x="822960" y="2057400"/>
            <a:ext cx="3840480" cy="1188720"/>
          </a:xfrm>
          <a:prstGeom prst="rect">
            <a:avLst/>
          </a:prstGeom>
          <a:noFill/>
          <a:ln/>
        </p:spPr>
        <p:txBody>
          <a:bodyPr wrap="square" lIns="0" tIns="0" rIns="0" bIns="0" rtlCol="0" anchor="ctr"/>
          <a:lstStyle/>
          <a:p>
            <a:pPr indent="0" marL="0">
              <a:buNone/>
            </a:pPr>
            <a:r>
              <a:rPr lang="en-US" sz="6400" b="1" dirty="0">
                <a:solidFill>
                  <a:srgbClr val="121826"/>
                </a:solidFill>
                <a:latin typeface="Cambria" pitchFamily="34" charset="0"/>
                <a:ea typeface="Cambria" pitchFamily="34" charset="-122"/>
                <a:cs typeface="Cambria" pitchFamily="34" charset="-120"/>
              </a:rPr>
              <a:t>65</a:t>
            </a:r>
            <a:endParaRPr lang="en-US" sz="6400" dirty="0"/>
          </a:p>
        </p:txBody>
      </p:sp>
      <p:sp>
        <p:nvSpPr>
          <p:cNvPr id="6" name="Text 4"/>
          <p:cNvSpPr txBox="1"/>
          <p:nvPr/>
        </p:nvSpPr>
        <p:spPr>
          <a:xfrm>
            <a:off x="822960" y="3154680"/>
            <a:ext cx="3749040" cy="640080"/>
          </a:xfrm>
          <a:prstGeom prst="rect">
            <a:avLst/>
          </a:prstGeom>
          <a:noFill/>
          <a:ln/>
        </p:spPr>
        <p:txBody>
          <a:bodyPr wrap="square" lIns="0" tIns="0" rIns="0" bIns="0" rtlCol="0" anchor="ctr"/>
          <a:lstStyle/>
          <a:p>
            <a:pPr indent="0" marL="0">
              <a:buNone/>
            </a:pPr>
            <a:r>
              <a:rPr lang="en-US" sz="1500" dirty="0">
                <a:solidFill>
                  <a:srgbClr val="5B6B79"/>
                </a:solidFill>
                <a:latin typeface="Calibri" pitchFamily="34" charset="0"/>
                <a:ea typeface="Calibri" pitchFamily="34" charset="-122"/>
                <a:cs typeface="Calibri" pitchFamily="34" charset="-120"/>
              </a:rPr>
              <a:t>real vendor security questions across 14 topics</a:t>
            </a:r>
            <a:endParaRPr lang="en-US" sz="1500" dirty="0"/>
          </a:p>
        </p:txBody>
      </p:sp>
      <p:sp>
        <p:nvSpPr>
          <p:cNvPr id="7" name="Shape 5"/>
          <p:cNvSpPr/>
          <p:nvPr/>
        </p:nvSpPr>
        <p:spPr>
          <a:xfrm>
            <a:off x="822960" y="3886200"/>
            <a:ext cx="3749040" cy="0"/>
          </a:xfrm>
          <a:prstGeom prst="line">
            <a:avLst/>
          </a:prstGeom>
          <a:noFill/>
          <a:ln w="12700">
            <a:solidFill>
              <a:srgbClr val="E1E6EB"/>
            </a:solidFill>
            <a:prstDash val="solid"/>
          </a:ln>
        </p:spPr>
      </p:sp>
      <p:sp>
        <p:nvSpPr>
          <p:cNvPr id="8" name="Text 6"/>
          <p:cNvSpPr txBox="1"/>
          <p:nvPr/>
        </p:nvSpPr>
        <p:spPr>
          <a:xfrm>
            <a:off x="822960" y="4069080"/>
            <a:ext cx="3749040" cy="1737360"/>
          </a:xfrm>
          <a:prstGeom prst="rect">
            <a:avLst/>
          </a:prstGeom>
          <a:noFill/>
          <a:ln/>
        </p:spPr>
        <p:txBody>
          <a:bodyPr wrap="square" lIns="0" tIns="0" rIns="0" bIns="0" rtlCol="0" anchor="ctr"/>
          <a:lstStyle/>
          <a:p>
            <a:pPr indent="0" marL="0">
              <a:buNone/>
            </a:pPr>
            <a:r>
              <a:rPr lang="en-US" sz="1300" dirty="0">
                <a:solidFill>
                  <a:srgbClr val="17202B"/>
                </a:solidFill>
                <a:latin typeface="Calibri" pitchFamily="34" charset="0"/>
                <a:ea typeface="Calibri" pitchFamily="34" charset="-122"/>
                <a:cs typeface="Calibri" pitchFamily="34" charset="-120"/>
              </a:rPr>
              <a:t>MFA · data residency · encryption · backups · vuln scans · production access · offboarding · background checks · incident response · and dozens more</a:t>
            </a:r>
            <a:endParaRPr lang="en-US" sz="1300" dirty="0"/>
          </a:p>
        </p:txBody>
      </p:sp>
      <p:sp>
        <p:nvSpPr>
          <p:cNvPr id="9" name="Shape 7"/>
          <p:cNvSpPr/>
          <p:nvPr/>
        </p:nvSpPr>
        <p:spPr>
          <a:xfrm>
            <a:off x="5394960" y="1828800"/>
            <a:ext cx="566928" cy="566928"/>
          </a:xfrm>
          <a:prstGeom prst="ellipse">
            <a:avLst/>
          </a:prstGeom>
          <a:solidFill>
            <a:srgbClr val="C0392B"/>
          </a:solidFill>
          <a:ln w="12700">
            <a:solidFill>
              <a:srgbClr val="C0392B"/>
            </a:solidFill>
            <a:prstDash val="solid"/>
          </a:ln>
        </p:spPr>
      </p:sp>
      <p:pic>
        <p:nvPicPr>
          <p:cNvPr id="10" name="Image 0" descr="/tmp/claude-0/-home-claude/4d7af575-a239-5aaf-bcca-b53c3061710f/scratchpad/icons/file-white.png">    </p:cNvPr>
          <p:cNvPicPr>
            <a:picLocks noChangeAspect="1"/>
          </p:cNvPicPr>
          <p:nvPr/>
        </p:nvPicPr>
        <p:blipFill>
          <a:blip r:embed="rId1"/>
          <a:stretch>
            <a:fillRect/>
          </a:stretch>
        </p:blipFill>
        <p:spPr>
          <a:xfrm>
            <a:off x="5542361" y="1976201"/>
            <a:ext cx="272125" cy="272125"/>
          </a:xfrm>
          <a:prstGeom prst="rect">
            <a:avLst/>
          </a:prstGeom>
        </p:spPr>
      </p:pic>
      <p:sp>
        <p:nvSpPr>
          <p:cNvPr id="11" name="Text 8"/>
          <p:cNvSpPr txBox="1"/>
          <p:nvPr/>
        </p:nvSpPr>
        <p:spPr>
          <a:xfrm>
            <a:off x="6126480" y="1783080"/>
            <a:ext cx="5486400" cy="365760"/>
          </a:xfrm>
          <a:prstGeom prst="rect">
            <a:avLst/>
          </a:prstGeom>
          <a:noFill/>
          <a:ln/>
        </p:spPr>
        <p:txBody>
          <a:bodyPr wrap="square" lIns="0" tIns="0" rIns="0" bIns="0" rtlCol="0" anchor="ctr"/>
          <a:lstStyle/>
          <a:p>
            <a:pPr indent="0" marL="0">
              <a:buNone/>
            </a:pPr>
            <a:r>
              <a:rPr lang="en-US" sz="1700" b="1" dirty="0">
                <a:solidFill>
                  <a:srgbClr val="17202B"/>
                </a:solidFill>
                <a:latin typeface="Calibri" pitchFamily="34" charset="0"/>
                <a:ea typeface="Calibri" pitchFamily="34" charset="-122"/>
                <a:cs typeface="Calibri" pitchFamily="34" charset="-120"/>
              </a:rPr>
              <a:t>Scattered</a:t>
            </a:r>
            <a:endParaRPr lang="en-US" sz="1700" dirty="0"/>
          </a:p>
        </p:txBody>
      </p:sp>
      <p:sp>
        <p:nvSpPr>
          <p:cNvPr id="12" name="Text 9"/>
          <p:cNvSpPr txBox="1"/>
          <p:nvPr/>
        </p:nvSpPr>
        <p:spPr>
          <a:xfrm>
            <a:off x="6126480" y="2167128"/>
            <a:ext cx="5486400" cy="822960"/>
          </a:xfrm>
          <a:prstGeom prst="rect">
            <a:avLst/>
          </a:prstGeom>
          <a:noFill/>
          <a:ln/>
        </p:spPr>
        <p:txBody>
          <a:bodyPr wrap="square" lIns="0" tIns="0" rIns="0" bIns="0" rtlCol="0" anchor="ctr"/>
          <a:lstStyle/>
          <a:p>
            <a:pPr indent="0" marL="0">
              <a:buNone/>
            </a:pPr>
            <a:r>
              <a:rPr lang="en-US" sz="1350" dirty="0">
                <a:solidFill>
                  <a:srgbClr val="5B6B79"/>
                </a:solidFill>
                <a:latin typeface="Calibri" pitchFamily="34" charset="0"/>
                <a:ea typeface="Calibri" pitchFamily="34" charset="-122"/>
                <a:cs typeface="Calibri" pitchFamily="34" charset="-120"/>
              </a:rPr>
              <a:t>Answers live across policies, Slack threads, infra notes, and people's heads.</a:t>
            </a:r>
            <a:endParaRPr lang="en-US" sz="1350" dirty="0"/>
          </a:p>
        </p:txBody>
      </p:sp>
      <p:sp>
        <p:nvSpPr>
          <p:cNvPr id="13" name="Shape 10"/>
          <p:cNvSpPr/>
          <p:nvPr/>
        </p:nvSpPr>
        <p:spPr>
          <a:xfrm>
            <a:off x="5394960" y="3246120"/>
            <a:ext cx="566928" cy="566928"/>
          </a:xfrm>
          <a:prstGeom prst="ellipse">
            <a:avLst/>
          </a:prstGeom>
          <a:solidFill>
            <a:srgbClr val="C98A2C"/>
          </a:solidFill>
          <a:ln w="12700">
            <a:solidFill>
              <a:srgbClr val="C98A2C"/>
            </a:solidFill>
            <a:prstDash val="solid"/>
          </a:ln>
        </p:spPr>
      </p:sp>
      <p:pic>
        <p:nvPicPr>
          <p:cNvPr id="14" name="Image 1" descr="/tmp/claude-0/-home-claude/4d7af575-a239-5aaf-bcca-b53c3061710f/scratchpad/icons/repeat-white.png">    </p:cNvPr>
          <p:cNvPicPr>
            <a:picLocks noChangeAspect="1"/>
          </p:cNvPicPr>
          <p:nvPr/>
        </p:nvPicPr>
        <p:blipFill>
          <a:blip r:embed="rId2"/>
          <a:stretch>
            <a:fillRect/>
          </a:stretch>
        </p:blipFill>
        <p:spPr>
          <a:xfrm>
            <a:off x="5542361" y="3393521"/>
            <a:ext cx="272125" cy="272125"/>
          </a:xfrm>
          <a:prstGeom prst="rect">
            <a:avLst/>
          </a:prstGeom>
        </p:spPr>
      </p:pic>
      <p:sp>
        <p:nvSpPr>
          <p:cNvPr id="15" name="Text 11"/>
          <p:cNvSpPr txBox="1"/>
          <p:nvPr/>
        </p:nvSpPr>
        <p:spPr>
          <a:xfrm>
            <a:off x="6126480" y="3200400"/>
            <a:ext cx="5486400" cy="365760"/>
          </a:xfrm>
          <a:prstGeom prst="rect">
            <a:avLst/>
          </a:prstGeom>
          <a:noFill/>
          <a:ln/>
        </p:spPr>
        <p:txBody>
          <a:bodyPr wrap="square" lIns="0" tIns="0" rIns="0" bIns="0" rtlCol="0" anchor="ctr"/>
          <a:lstStyle/>
          <a:p>
            <a:pPr indent="0" marL="0">
              <a:buNone/>
            </a:pPr>
            <a:r>
              <a:rPr lang="en-US" sz="1700" b="1" dirty="0">
                <a:solidFill>
                  <a:srgbClr val="17202B"/>
                </a:solidFill>
                <a:latin typeface="Calibri" pitchFamily="34" charset="0"/>
                <a:ea typeface="Calibri" pitchFamily="34" charset="-122"/>
                <a:cs typeface="Calibri" pitchFamily="34" charset="-120"/>
              </a:rPr>
              <a:t>Contradictory</a:t>
            </a:r>
            <a:endParaRPr lang="en-US" sz="1700" dirty="0"/>
          </a:p>
        </p:txBody>
      </p:sp>
      <p:sp>
        <p:nvSpPr>
          <p:cNvPr id="16" name="Text 12"/>
          <p:cNvSpPr txBox="1"/>
          <p:nvPr/>
        </p:nvSpPr>
        <p:spPr>
          <a:xfrm>
            <a:off x="6126480" y="3584448"/>
            <a:ext cx="5486400" cy="822960"/>
          </a:xfrm>
          <a:prstGeom prst="rect">
            <a:avLst/>
          </a:prstGeom>
          <a:noFill/>
          <a:ln/>
        </p:spPr>
        <p:txBody>
          <a:bodyPr wrap="square" lIns="0" tIns="0" rIns="0" bIns="0" rtlCol="0" anchor="ctr"/>
          <a:lstStyle/>
          <a:p>
            <a:pPr indent="0" marL="0">
              <a:buNone/>
            </a:pPr>
            <a:r>
              <a:rPr lang="en-US" sz="1350" dirty="0">
                <a:solidFill>
                  <a:srgbClr val="5B6B79"/>
                </a:solidFill>
                <a:latin typeface="Calibri" pitchFamily="34" charset="0"/>
                <a:ea typeface="Calibri" pitchFamily="34" charset="-122"/>
                <a:cs typeface="Calibri" pitchFamily="34" charset="-120"/>
              </a:rPr>
              <a:t>A policy says MFA is mandatory. A message says a contractor never enrolled.</a:t>
            </a:r>
            <a:endParaRPr lang="en-US" sz="1350" dirty="0"/>
          </a:p>
        </p:txBody>
      </p:sp>
      <p:sp>
        <p:nvSpPr>
          <p:cNvPr id="17" name="Shape 13"/>
          <p:cNvSpPr/>
          <p:nvPr/>
        </p:nvSpPr>
        <p:spPr>
          <a:xfrm>
            <a:off x="5394960" y="4663440"/>
            <a:ext cx="566928" cy="566928"/>
          </a:xfrm>
          <a:prstGeom prst="ellipse">
            <a:avLst/>
          </a:prstGeom>
          <a:solidFill>
            <a:srgbClr val="1C7293"/>
          </a:solidFill>
          <a:ln w="12700">
            <a:solidFill>
              <a:srgbClr val="1C7293"/>
            </a:solidFill>
            <a:prstDash val="solid"/>
          </a:ln>
        </p:spPr>
      </p:sp>
      <p:pic>
        <p:nvPicPr>
          <p:cNvPr id="18" name="Image 2" descr="/tmp/claude-0/-home-claude/4d7af575-a239-5aaf-bcca-b53c3061710f/scratchpad/icons/alert-white.png">    </p:cNvPr>
          <p:cNvPicPr>
            <a:picLocks noChangeAspect="1"/>
          </p:cNvPicPr>
          <p:nvPr/>
        </p:nvPicPr>
        <p:blipFill>
          <a:blip r:embed="rId3"/>
          <a:stretch>
            <a:fillRect/>
          </a:stretch>
        </p:blipFill>
        <p:spPr>
          <a:xfrm>
            <a:off x="5542361" y="4810841"/>
            <a:ext cx="272125" cy="272125"/>
          </a:xfrm>
          <a:prstGeom prst="rect">
            <a:avLst/>
          </a:prstGeom>
        </p:spPr>
      </p:pic>
      <p:sp>
        <p:nvSpPr>
          <p:cNvPr id="19" name="Text 14"/>
          <p:cNvSpPr txBox="1"/>
          <p:nvPr/>
        </p:nvSpPr>
        <p:spPr>
          <a:xfrm>
            <a:off x="6126480" y="4617720"/>
            <a:ext cx="5486400" cy="365760"/>
          </a:xfrm>
          <a:prstGeom prst="rect">
            <a:avLst/>
          </a:prstGeom>
          <a:noFill/>
          <a:ln/>
        </p:spPr>
        <p:txBody>
          <a:bodyPr wrap="square" lIns="0" tIns="0" rIns="0" bIns="0" rtlCol="0" anchor="ctr"/>
          <a:lstStyle/>
          <a:p>
            <a:pPr indent="0" marL="0">
              <a:buNone/>
            </a:pPr>
            <a:r>
              <a:rPr lang="en-US" sz="1700" b="1" dirty="0">
                <a:solidFill>
                  <a:srgbClr val="17202B"/>
                </a:solidFill>
                <a:latin typeface="Calibri" pitchFamily="34" charset="0"/>
                <a:ea typeface="Calibri" pitchFamily="34" charset="-122"/>
                <a:cs typeface="Calibri" pitchFamily="34" charset="-120"/>
              </a:rPr>
              <a:t>Ambiguous</a:t>
            </a:r>
            <a:endParaRPr lang="en-US" sz="1700" dirty="0"/>
          </a:p>
        </p:txBody>
      </p:sp>
      <p:sp>
        <p:nvSpPr>
          <p:cNvPr id="20" name="Text 15"/>
          <p:cNvSpPr txBox="1"/>
          <p:nvPr/>
        </p:nvSpPr>
        <p:spPr>
          <a:xfrm>
            <a:off x="6126480" y="5001768"/>
            <a:ext cx="5486400" cy="822960"/>
          </a:xfrm>
          <a:prstGeom prst="rect">
            <a:avLst/>
          </a:prstGeom>
          <a:noFill/>
          <a:ln/>
        </p:spPr>
        <p:txBody>
          <a:bodyPr wrap="square" lIns="0" tIns="0" rIns="0" bIns="0" rtlCol="0" anchor="ctr"/>
          <a:lstStyle/>
          <a:p>
            <a:pPr indent="0" marL="0">
              <a:buNone/>
            </a:pPr>
            <a:r>
              <a:rPr lang="en-US" sz="1350" dirty="0">
                <a:solidFill>
                  <a:srgbClr val="5B6B79"/>
                </a:solidFill>
                <a:latin typeface="Calibri" pitchFamily="34" charset="0"/>
                <a:ea typeface="Calibri" pitchFamily="34" charset="-122"/>
                <a:cs typeface="Calibri" pitchFamily="34" charset="-120"/>
              </a:rPr>
              <a:t>“We use encryption” isn't an answer a security team can rely on.</a:t>
            </a:r>
            <a:endParaRPr lang="en-US" sz="1350" dirty="0"/>
          </a:p>
        </p:txBody>
      </p:sp>
      <p:sp>
        <p:nvSpPr>
          <p:cNvPr id="21" name="Text 16"/>
          <p:cNvSpPr txBox="1"/>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B7C0C9"/>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THE SOLUTION</a:t>
            </a:r>
            <a:endParaRPr lang="en-US" sz="1200" dirty="0"/>
          </a:p>
        </p:txBody>
      </p:sp>
      <p:sp>
        <p:nvSpPr>
          <p:cNvPr id="3" name="Text 1"/>
          <p:cNvSpPr txBox="1"/>
          <p:nvPr/>
        </p:nvSpPr>
        <p:spPr>
          <a:xfrm>
            <a:off x="548640" y="713232"/>
            <a:ext cx="11091672" cy="822960"/>
          </a:xfrm>
          <a:prstGeom prst="rect">
            <a:avLst/>
          </a:prstGeom>
          <a:noFill/>
          <a:ln/>
        </p:spPr>
        <p:txBody>
          <a:bodyPr wrap="square" lIns="0" tIns="0" rIns="0" bIns="0" rtlCol="0" anchor="ctr"/>
          <a:lstStyle/>
          <a:p>
            <a:pPr indent="0" marL="0">
              <a:buNone/>
            </a:pPr>
            <a:r>
              <a:rPr lang="en-US" sz="3000" b="1" dirty="0">
                <a:solidFill>
                  <a:srgbClr val="17202B"/>
                </a:solidFill>
                <a:latin typeface="Cambria" pitchFamily="34" charset="0"/>
                <a:ea typeface="Cambria" pitchFamily="34" charset="-122"/>
                <a:cs typeface="Cambria" pitchFamily="34" charset="-120"/>
              </a:rPr>
              <a:t>An analyst that investigates before it answers</a:t>
            </a:r>
            <a:endParaRPr lang="en-US" sz="3000" dirty="0"/>
          </a:p>
        </p:txBody>
      </p:sp>
      <p:sp>
        <p:nvSpPr>
          <p:cNvPr id="4" name="Shape 2"/>
          <p:cNvSpPr/>
          <p:nvPr/>
        </p:nvSpPr>
        <p:spPr>
          <a:xfrm>
            <a:off x="548640" y="1874520"/>
            <a:ext cx="3611880" cy="1965960"/>
          </a:xfrm>
          <a:prstGeom prst="roundRect">
            <a:avLst>
              <a:gd name="adj" fmla="val 4651"/>
            </a:avLst>
          </a:prstGeom>
          <a:solidFill>
            <a:srgbClr val="FFFFFF"/>
          </a:solidFill>
          <a:ln w="12700">
            <a:solidFill>
              <a:srgbClr val="E1E6EB"/>
            </a:solidFill>
            <a:prstDash val="solid"/>
          </a:ln>
          <a:effectLst>
            <a:outerShdw sx="100000" sy="100000" kx="0" ky="0" algn="bl" rotWithShape="0" blurRad="76200" dist="25400" dir="5400000">
              <a:srgbClr val="000000">
                <a:alpha val="7000"/>
              </a:srgbClr>
            </a:outerShdw>
          </a:effectLst>
        </p:spPr>
      </p:sp>
      <p:sp>
        <p:nvSpPr>
          <p:cNvPr id="5" name="Shape 3"/>
          <p:cNvSpPr/>
          <p:nvPr/>
        </p:nvSpPr>
        <p:spPr>
          <a:xfrm>
            <a:off x="804672" y="2130552"/>
            <a:ext cx="502920" cy="502920"/>
          </a:xfrm>
          <a:prstGeom prst="ellipse">
            <a:avLst/>
          </a:prstGeom>
          <a:solidFill>
            <a:srgbClr val="CADCFC"/>
          </a:solidFill>
          <a:ln w="12700">
            <a:solidFill>
              <a:srgbClr val="CADCFC"/>
            </a:solidFill>
            <a:prstDash val="solid"/>
          </a:ln>
        </p:spPr>
      </p:sp>
      <p:pic>
        <p:nvPicPr>
          <p:cNvPr id="6" name="Image 0" descr="/tmp/claude-0/-home-claude/4d7af575-a239-5aaf-bcca-b53c3061710f/scratchpad/icons/search-navy.png">    </p:cNvPr>
          <p:cNvPicPr>
            <a:picLocks noChangeAspect="1"/>
          </p:cNvPicPr>
          <p:nvPr/>
        </p:nvPicPr>
        <p:blipFill>
          <a:blip r:embed="rId1"/>
          <a:stretch>
            <a:fillRect/>
          </a:stretch>
        </p:blipFill>
        <p:spPr>
          <a:xfrm>
            <a:off x="935431" y="2261311"/>
            <a:ext cx="241402" cy="241402"/>
          </a:xfrm>
          <a:prstGeom prst="rect">
            <a:avLst/>
          </a:prstGeom>
        </p:spPr>
      </p:pic>
      <p:sp>
        <p:nvSpPr>
          <p:cNvPr id="7" name="Text 4"/>
          <p:cNvSpPr txBox="1"/>
          <p:nvPr/>
        </p:nvSpPr>
        <p:spPr>
          <a:xfrm>
            <a:off x="804672" y="2743200"/>
            <a:ext cx="3099816" cy="365760"/>
          </a:xfrm>
          <a:prstGeom prst="rect">
            <a:avLst/>
          </a:prstGeom>
          <a:noFill/>
          <a:ln/>
        </p:spPr>
        <p:txBody>
          <a:bodyPr wrap="square" lIns="0" tIns="0" rIns="0" bIns="0" rtlCol="0" anchor="ctr"/>
          <a:lstStyle/>
          <a:p>
            <a:pPr indent="0" marL="0">
              <a:buNone/>
            </a:pPr>
            <a:r>
              <a:rPr lang="en-US" sz="1500" b="1" dirty="0">
                <a:solidFill>
                  <a:srgbClr val="17202B"/>
                </a:solidFill>
                <a:latin typeface="Calibri" pitchFamily="34" charset="0"/>
                <a:ea typeface="Calibri" pitchFamily="34" charset="-122"/>
                <a:cs typeface="Calibri" pitchFamily="34" charset="-120"/>
              </a:rPr>
              <a:t>Search first</a:t>
            </a:r>
            <a:endParaRPr lang="en-US" sz="1500" dirty="0"/>
          </a:p>
        </p:txBody>
      </p:sp>
      <p:sp>
        <p:nvSpPr>
          <p:cNvPr id="8" name="Text 5"/>
          <p:cNvSpPr txBox="1"/>
          <p:nvPr/>
        </p:nvSpPr>
        <p:spPr>
          <a:xfrm>
            <a:off x="804672" y="3108960"/>
            <a:ext cx="3099816" cy="685800"/>
          </a:xfrm>
          <a:prstGeom prst="rect">
            <a:avLst/>
          </a:prstGeom>
          <a:noFill/>
          <a:ln/>
        </p:spPr>
        <p:txBody>
          <a:bodyPr wrap="square" lIns="0" tIns="0" rIns="0" bIns="0" rtlCol="0" anchor="ctr"/>
          <a:lstStyle/>
          <a:p>
            <a:pPr indent="0" marL="0">
              <a:buNone/>
            </a:pPr>
            <a:r>
              <a:rPr lang="en-US" sz="1150" dirty="0">
                <a:solidFill>
                  <a:srgbClr val="5B6B79"/>
                </a:solidFill>
                <a:latin typeface="Calibri" pitchFamily="34" charset="0"/>
                <a:ea typeface="Calibri" pitchFamily="34" charset="-122"/>
                <a:cs typeface="Calibri" pitchFamily="34" charset="-120"/>
              </a:rPr>
              <a:t>Every question checks company evidence before the model ever answers or asks.</a:t>
            </a:r>
            <a:endParaRPr lang="en-US" sz="1150" dirty="0"/>
          </a:p>
        </p:txBody>
      </p:sp>
      <p:sp>
        <p:nvSpPr>
          <p:cNvPr id="9" name="Shape 6"/>
          <p:cNvSpPr/>
          <p:nvPr/>
        </p:nvSpPr>
        <p:spPr>
          <a:xfrm>
            <a:off x="4389120" y="1874520"/>
            <a:ext cx="3611880" cy="1965960"/>
          </a:xfrm>
          <a:prstGeom prst="roundRect">
            <a:avLst>
              <a:gd name="adj" fmla="val 4651"/>
            </a:avLst>
          </a:prstGeom>
          <a:solidFill>
            <a:srgbClr val="FFFFFF"/>
          </a:solidFill>
          <a:ln w="12700">
            <a:solidFill>
              <a:srgbClr val="E1E6EB"/>
            </a:solidFill>
            <a:prstDash val="solid"/>
          </a:ln>
          <a:effectLst>
            <a:outerShdw sx="100000" sy="100000" kx="0" ky="0" algn="bl" rotWithShape="0" blurRad="76200" dist="25400" dir="5400000">
              <a:srgbClr val="000000">
                <a:alpha val="7000"/>
              </a:srgbClr>
            </a:outerShdw>
          </a:effectLst>
        </p:spPr>
      </p:sp>
      <p:sp>
        <p:nvSpPr>
          <p:cNvPr id="10" name="Shape 7"/>
          <p:cNvSpPr/>
          <p:nvPr/>
        </p:nvSpPr>
        <p:spPr>
          <a:xfrm>
            <a:off x="4645152" y="2130552"/>
            <a:ext cx="502920" cy="502920"/>
          </a:xfrm>
          <a:prstGeom prst="ellipse">
            <a:avLst/>
          </a:prstGeom>
          <a:solidFill>
            <a:srgbClr val="CADCFC"/>
          </a:solidFill>
          <a:ln w="12700">
            <a:solidFill>
              <a:srgbClr val="CADCFC"/>
            </a:solidFill>
            <a:prstDash val="solid"/>
          </a:ln>
        </p:spPr>
      </p:sp>
      <p:pic>
        <p:nvPicPr>
          <p:cNvPr id="11" name="Image 1" descr="/tmp/claude-0/-home-claude/4d7af575-a239-5aaf-bcca-b53c3061710f/scratchpad/icons/help-navy.png">    </p:cNvPr>
          <p:cNvPicPr>
            <a:picLocks noChangeAspect="1"/>
          </p:cNvPicPr>
          <p:nvPr/>
        </p:nvPicPr>
        <p:blipFill>
          <a:blip r:embed="rId2"/>
          <a:stretch>
            <a:fillRect/>
          </a:stretch>
        </p:blipFill>
        <p:spPr>
          <a:xfrm>
            <a:off x="4775911" y="2261311"/>
            <a:ext cx="241402" cy="241402"/>
          </a:xfrm>
          <a:prstGeom prst="rect">
            <a:avLst/>
          </a:prstGeom>
        </p:spPr>
      </p:pic>
      <p:sp>
        <p:nvSpPr>
          <p:cNvPr id="12" name="Text 8"/>
          <p:cNvSpPr txBox="1"/>
          <p:nvPr/>
        </p:nvSpPr>
        <p:spPr>
          <a:xfrm>
            <a:off x="4645152" y="2743200"/>
            <a:ext cx="3099816" cy="365760"/>
          </a:xfrm>
          <a:prstGeom prst="rect">
            <a:avLst/>
          </a:prstGeom>
          <a:noFill/>
          <a:ln/>
        </p:spPr>
        <p:txBody>
          <a:bodyPr wrap="square" lIns="0" tIns="0" rIns="0" bIns="0" rtlCol="0" anchor="ctr"/>
          <a:lstStyle/>
          <a:p>
            <a:pPr indent="0" marL="0">
              <a:buNone/>
            </a:pPr>
            <a:r>
              <a:rPr lang="en-US" sz="1500" b="1" dirty="0">
                <a:solidFill>
                  <a:srgbClr val="17202B"/>
                </a:solidFill>
                <a:latin typeface="Calibri" pitchFamily="34" charset="0"/>
                <a:ea typeface="Calibri" pitchFamily="34" charset="-122"/>
                <a:cs typeface="Calibri" pitchFamily="34" charset="-120"/>
              </a:rPr>
              <a:t>Ask smart follow-ups</a:t>
            </a:r>
            <a:endParaRPr lang="en-US" sz="1500" dirty="0"/>
          </a:p>
        </p:txBody>
      </p:sp>
      <p:sp>
        <p:nvSpPr>
          <p:cNvPr id="13" name="Text 9"/>
          <p:cNvSpPr txBox="1"/>
          <p:nvPr/>
        </p:nvSpPr>
        <p:spPr>
          <a:xfrm>
            <a:off x="4645152" y="3108960"/>
            <a:ext cx="3099816" cy="685800"/>
          </a:xfrm>
          <a:prstGeom prst="rect">
            <a:avLst/>
          </a:prstGeom>
          <a:noFill/>
          <a:ln/>
        </p:spPr>
        <p:txBody>
          <a:bodyPr wrap="square" lIns="0" tIns="0" rIns="0" bIns="0" rtlCol="0" anchor="ctr"/>
          <a:lstStyle/>
          <a:p>
            <a:pPr indent="0" marL="0">
              <a:buNone/>
            </a:pPr>
            <a:r>
              <a:rPr lang="en-US" sz="1150" dirty="0">
                <a:solidFill>
                  <a:srgbClr val="5B6B79"/>
                </a:solidFill>
                <a:latin typeface="Calibri" pitchFamily="34" charset="0"/>
                <a:ea typeface="Calibri" pitchFamily="34" charset="-122"/>
                <a:cs typeface="Calibri" pitchFamily="34" charset="-120"/>
              </a:rPr>
              <a:t>Vague answers aren't accepted. It asks for the specific missing detail.</a:t>
            </a:r>
            <a:endParaRPr lang="en-US" sz="1150" dirty="0"/>
          </a:p>
        </p:txBody>
      </p:sp>
      <p:sp>
        <p:nvSpPr>
          <p:cNvPr id="14" name="Shape 10"/>
          <p:cNvSpPr/>
          <p:nvPr/>
        </p:nvSpPr>
        <p:spPr>
          <a:xfrm>
            <a:off x="8229600" y="1874520"/>
            <a:ext cx="3611880" cy="1965960"/>
          </a:xfrm>
          <a:prstGeom prst="roundRect">
            <a:avLst>
              <a:gd name="adj" fmla="val 4651"/>
            </a:avLst>
          </a:prstGeom>
          <a:solidFill>
            <a:srgbClr val="FFFFFF"/>
          </a:solidFill>
          <a:ln w="12700">
            <a:solidFill>
              <a:srgbClr val="E1E6EB"/>
            </a:solidFill>
            <a:prstDash val="solid"/>
          </a:ln>
          <a:effectLst>
            <a:outerShdw sx="100000" sy="100000" kx="0" ky="0" algn="bl" rotWithShape="0" blurRad="76200" dist="25400" dir="5400000">
              <a:srgbClr val="000000">
                <a:alpha val="7000"/>
              </a:srgbClr>
            </a:outerShdw>
          </a:effectLst>
        </p:spPr>
      </p:sp>
      <p:sp>
        <p:nvSpPr>
          <p:cNvPr id="15" name="Shape 11"/>
          <p:cNvSpPr/>
          <p:nvPr/>
        </p:nvSpPr>
        <p:spPr>
          <a:xfrm>
            <a:off x="8485632" y="2130552"/>
            <a:ext cx="502920" cy="502920"/>
          </a:xfrm>
          <a:prstGeom prst="ellipse">
            <a:avLst/>
          </a:prstGeom>
          <a:solidFill>
            <a:srgbClr val="CADCFC"/>
          </a:solidFill>
          <a:ln w="12700">
            <a:solidFill>
              <a:srgbClr val="CADCFC"/>
            </a:solidFill>
            <a:prstDash val="solid"/>
          </a:ln>
        </p:spPr>
      </p:sp>
      <p:pic>
        <p:nvPicPr>
          <p:cNvPr id="16" name="Image 2" descr="/tmp/claude-0/-home-claude/4d7af575-a239-5aaf-bcca-b53c3061710f/scratchpad/icons/alert-navy.png">    </p:cNvPr>
          <p:cNvPicPr>
            <a:picLocks noChangeAspect="1"/>
          </p:cNvPicPr>
          <p:nvPr/>
        </p:nvPicPr>
        <p:blipFill>
          <a:blip r:embed="rId3"/>
          <a:stretch>
            <a:fillRect/>
          </a:stretch>
        </p:blipFill>
        <p:spPr>
          <a:xfrm>
            <a:off x="8616391" y="2261311"/>
            <a:ext cx="241402" cy="241402"/>
          </a:xfrm>
          <a:prstGeom prst="rect">
            <a:avLst/>
          </a:prstGeom>
        </p:spPr>
      </p:pic>
      <p:sp>
        <p:nvSpPr>
          <p:cNvPr id="17" name="Text 12"/>
          <p:cNvSpPr txBox="1"/>
          <p:nvPr/>
        </p:nvSpPr>
        <p:spPr>
          <a:xfrm>
            <a:off x="8485632" y="2743200"/>
            <a:ext cx="3099816" cy="365760"/>
          </a:xfrm>
          <a:prstGeom prst="rect">
            <a:avLst/>
          </a:prstGeom>
          <a:noFill/>
          <a:ln/>
        </p:spPr>
        <p:txBody>
          <a:bodyPr wrap="square" lIns="0" tIns="0" rIns="0" bIns="0" rtlCol="0" anchor="ctr"/>
          <a:lstStyle/>
          <a:p>
            <a:pPr indent="0" marL="0">
              <a:buNone/>
            </a:pPr>
            <a:r>
              <a:rPr lang="en-US" sz="1500" b="1" dirty="0">
                <a:solidFill>
                  <a:srgbClr val="17202B"/>
                </a:solidFill>
                <a:latin typeface="Calibri" pitchFamily="34" charset="0"/>
                <a:ea typeface="Calibri" pitchFamily="34" charset="-122"/>
                <a:cs typeface="Calibri" pitchFamily="34" charset="-120"/>
              </a:rPr>
              <a:t>Surface contradictions</a:t>
            </a:r>
            <a:endParaRPr lang="en-US" sz="1500" dirty="0"/>
          </a:p>
        </p:txBody>
      </p:sp>
      <p:sp>
        <p:nvSpPr>
          <p:cNvPr id="18" name="Text 13"/>
          <p:cNvSpPr txBox="1"/>
          <p:nvPr/>
        </p:nvSpPr>
        <p:spPr>
          <a:xfrm>
            <a:off x="8485632" y="3108960"/>
            <a:ext cx="3099816" cy="685800"/>
          </a:xfrm>
          <a:prstGeom prst="rect">
            <a:avLst/>
          </a:prstGeom>
          <a:noFill/>
          <a:ln/>
        </p:spPr>
        <p:txBody>
          <a:bodyPr wrap="square" lIns="0" tIns="0" rIns="0" bIns="0" rtlCol="0" anchor="ctr"/>
          <a:lstStyle/>
          <a:p>
            <a:pPr indent="0" marL="0">
              <a:buNone/>
            </a:pPr>
            <a:r>
              <a:rPr lang="en-US" sz="1150" dirty="0">
                <a:solidFill>
                  <a:srgbClr val="5B6B79"/>
                </a:solidFill>
                <a:latin typeface="Calibri" pitchFamily="34" charset="0"/>
                <a:ea typeface="Calibri" pitchFamily="34" charset="-122"/>
                <a:cs typeface="Calibri" pitchFamily="34" charset="-120"/>
              </a:rPr>
              <a:t>Conflicting evidence is never silently resolved by guessing a side.</a:t>
            </a:r>
            <a:endParaRPr lang="en-US" sz="1150" dirty="0"/>
          </a:p>
        </p:txBody>
      </p:sp>
      <p:sp>
        <p:nvSpPr>
          <p:cNvPr id="19" name="Shape 14"/>
          <p:cNvSpPr/>
          <p:nvPr/>
        </p:nvSpPr>
        <p:spPr>
          <a:xfrm>
            <a:off x="548640" y="4114800"/>
            <a:ext cx="3611880" cy="1965960"/>
          </a:xfrm>
          <a:prstGeom prst="roundRect">
            <a:avLst>
              <a:gd name="adj" fmla="val 4651"/>
            </a:avLst>
          </a:prstGeom>
          <a:solidFill>
            <a:srgbClr val="FFFFFF"/>
          </a:solidFill>
          <a:ln w="12700">
            <a:solidFill>
              <a:srgbClr val="E1E6EB"/>
            </a:solidFill>
            <a:prstDash val="solid"/>
          </a:ln>
          <a:effectLst>
            <a:outerShdw sx="100000" sy="100000" kx="0" ky="0" algn="bl" rotWithShape="0" blurRad="76200" dist="25400" dir="5400000">
              <a:srgbClr val="000000">
                <a:alpha val="7000"/>
              </a:srgbClr>
            </a:outerShdw>
          </a:effectLst>
        </p:spPr>
      </p:sp>
      <p:sp>
        <p:nvSpPr>
          <p:cNvPr id="20" name="Shape 15"/>
          <p:cNvSpPr/>
          <p:nvPr/>
        </p:nvSpPr>
        <p:spPr>
          <a:xfrm>
            <a:off x="804672" y="4370832"/>
            <a:ext cx="502920" cy="502920"/>
          </a:xfrm>
          <a:prstGeom prst="ellipse">
            <a:avLst/>
          </a:prstGeom>
          <a:solidFill>
            <a:srgbClr val="CADCFC"/>
          </a:solidFill>
          <a:ln w="12700">
            <a:solidFill>
              <a:srgbClr val="CADCFC"/>
            </a:solidFill>
            <a:prstDash val="solid"/>
          </a:ln>
        </p:spPr>
      </p:sp>
      <p:pic>
        <p:nvPicPr>
          <p:cNvPr id="21" name="Image 3" descr="/tmp/claude-0/-home-claude/4d7af575-a239-5aaf-bcca-b53c3061710f/scratchpad/icons/repeat-navy.png">    </p:cNvPr>
          <p:cNvPicPr>
            <a:picLocks noChangeAspect="1"/>
          </p:cNvPicPr>
          <p:nvPr/>
        </p:nvPicPr>
        <p:blipFill>
          <a:blip r:embed="rId4"/>
          <a:stretch>
            <a:fillRect/>
          </a:stretch>
        </p:blipFill>
        <p:spPr>
          <a:xfrm>
            <a:off x="935431" y="4501591"/>
            <a:ext cx="241402" cy="241402"/>
          </a:xfrm>
          <a:prstGeom prst="rect">
            <a:avLst/>
          </a:prstGeom>
        </p:spPr>
      </p:pic>
      <p:sp>
        <p:nvSpPr>
          <p:cNvPr id="22" name="Text 16"/>
          <p:cNvSpPr txBox="1"/>
          <p:nvPr/>
        </p:nvSpPr>
        <p:spPr>
          <a:xfrm>
            <a:off x="804672" y="4983480"/>
            <a:ext cx="3099816" cy="365760"/>
          </a:xfrm>
          <a:prstGeom prst="rect">
            <a:avLst/>
          </a:prstGeom>
          <a:noFill/>
          <a:ln/>
        </p:spPr>
        <p:txBody>
          <a:bodyPr wrap="square" lIns="0" tIns="0" rIns="0" bIns="0" rtlCol="0" anchor="ctr"/>
          <a:lstStyle/>
          <a:p>
            <a:pPr indent="0" marL="0">
              <a:buNone/>
            </a:pPr>
            <a:r>
              <a:rPr lang="en-US" sz="1500" b="1" dirty="0">
                <a:solidFill>
                  <a:srgbClr val="17202B"/>
                </a:solidFill>
                <a:latin typeface="Calibri" pitchFamily="34" charset="0"/>
                <a:ea typeface="Calibri" pitchFamily="34" charset="-122"/>
                <a:cs typeface="Calibri" pitchFamily="34" charset="-120"/>
              </a:rPr>
              <a:t>Remember everything</a:t>
            </a:r>
            <a:endParaRPr lang="en-US" sz="1500" dirty="0"/>
          </a:p>
        </p:txBody>
      </p:sp>
      <p:sp>
        <p:nvSpPr>
          <p:cNvPr id="23" name="Text 17"/>
          <p:cNvSpPr txBox="1"/>
          <p:nvPr/>
        </p:nvSpPr>
        <p:spPr>
          <a:xfrm>
            <a:off x="804672" y="5349240"/>
            <a:ext cx="3099816" cy="685800"/>
          </a:xfrm>
          <a:prstGeom prst="rect">
            <a:avLst/>
          </a:prstGeom>
          <a:noFill/>
          <a:ln/>
        </p:spPr>
        <p:txBody>
          <a:bodyPr wrap="square" lIns="0" tIns="0" rIns="0" bIns="0" rtlCol="0" anchor="ctr"/>
          <a:lstStyle/>
          <a:p>
            <a:pPr indent="0" marL="0">
              <a:buNone/>
            </a:pPr>
            <a:r>
              <a:rPr lang="en-US" sz="1150" dirty="0">
                <a:solidFill>
                  <a:srgbClr val="5B6B79"/>
                </a:solidFill>
                <a:latin typeface="Calibri" pitchFamily="34" charset="0"/>
                <a:ea typeface="Calibri" pitchFamily="34" charset="-122"/>
                <a:cs typeface="Calibri" pitchFamily="34" charset="-120"/>
              </a:rPr>
              <a:t>Facts confirmed once don't need to be asked again.</a:t>
            </a:r>
            <a:endParaRPr lang="en-US" sz="1150" dirty="0"/>
          </a:p>
        </p:txBody>
      </p:sp>
      <p:sp>
        <p:nvSpPr>
          <p:cNvPr id="24" name="Shape 18"/>
          <p:cNvSpPr/>
          <p:nvPr/>
        </p:nvSpPr>
        <p:spPr>
          <a:xfrm>
            <a:off x="4389120" y="4114800"/>
            <a:ext cx="3611880" cy="1965960"/>
          </a:xfrm>
          <a:prstGeom prst="roundRect">
            <a:avLst>
              <a:gd name="adj" fmla="val 4651"/>
            </a:avLst>
          </a:prstGeom>
          <a:solidFill>
            <a:srgbClr val="FFFFFF"/>
          </a:solidFill>
          <a:ln w="12700">
            <a:solidFill>
              <a:srgbClr val="E1E6EB"/>
            </a:solidFill>
            <a:prstDash val="solid"/>
          </a:ln>
          <a:effectLst>
            <a:outerShdw sx="100000" sy="100000" kx="0" ky="0" algn="bl" rotWithShape="0" blurRad="76200" dist="25400" dir="5400000">
              <a:srgbClr val="000000">
                <a:alpha val="7000"/>
              </a:srgbClr>
            </a:outerShdw>
          </a:effectLst>
        </p:spPr>
      </p:sp>
      <p:sp>
        <p:nvSpPr>
          <p:cNvPr id="25" name="Shape 19"/>
          <p:cNvSpPr/>
          <p:nvPr/>
        </p:nvSpPr>
        <p:spPr>
          <a:xfrm>
            <a:off x="4645152" y="4370832"/>
            <a:ext cx="502920" cy="502920"/>
          </a:xfrm>
          <a:prstGeom prst="ellipse">
            <a:avLst/>
          </a:prstGeom>
          <a:solidFill>
            <a:srgbClr val="CADCFC"/>
          </a:solidFill>
          <a:ln w="12700">
            <a:solidFill>
              <a:srgbClr val="CADCFC"/>
            </a:solidFill>
            <a:prstDash val="solid"/>
          </a:ln>
        </p:spPr>
      </p:sp>
      <p:pic>
        <p:nvPicPr>
          <p:cNvPr id="26" name="Image 4" descr="/tmp/claude-0/-home-claude/4d7af575-a239-5aaf-bcca-b53c3061710f/scratchpad/icons/check-navy.png">    </p:cNvPr>
          <p:cNvPicPr>
            <a:picLocks noChangeAspect="1"/>
          </p:cNvPicPr>
          <p:nvPr/>
        </p:nvPicPr>
        <p:blipFill>
          <a:blip r:embed="rId5"/>
          <a:stretch>
            <a:fillRect/>
          </a:stretch>
        </p:blipFill>
        <p:spPr>
          <a:xfrm>
            <a:off x="4775911" y="4501591"/>
            <a:ext cx="241402" cy="241402"/>
          </a:xfrm>
          <a:prstGeom prst="rect">
            <a:avLst/>
          </a:prstGeom>
        </p:spPr>
      </p:pic>
      <p:sp>
        <p:nvSpPr>
          <p:cNvPr id="27" name="Text 20"/>
          <p:cNvSpPr txBox="1"/>
          <p:nvPr/>
        </p:nvSpPr>
        <p:spPr>
          <a:xfrm>
            <a:off x="4645152" y="4983480"/>
            <a:ext cx="3099816" cy="365760"/>
          </a:xfrm>
          <a:prstGeom prst="rect">
            <a:avLst/>
          </a:prstGeom>
          <a:noFill/>
          <a:ln/>
        </p:spPr>
        <p:txBody>
          <a:bodyPr wrap="square" lIns="0" tIns="0" rIns="0" bIns="0" rtlCol="0" anchor="ctr"/>
          <a:lstStyle/>
          <a:p>
            <a:pPr indent="0" marL="0">
              <a:buNone/>
            </a:pPr>
            <a:r>
              <a:rPr lang="en-US" sz="1500" b="1" dirty="0">
                <a:solidFill>
                  <a:srgbClr val="17202B"/>
                </a:solidFill>
                <a:latin typeface="Calibri" pitchFamily="34" charset="0"/>
                <a:ea typeface="Calibri" pitchFamily="34" charset="-122"/>
                <a:cs typeface="Calibri" pitchFamily="34" charset="-120"/>
              </a:rPr>
              <a:t>Complete the questionnaire</a:t>
            </a:r>
            <a:endParaRPr lang="en-US" sz="1500" dirty="0"/>
          </a:p>
        </p:txBody>
      </p:sp>
      <p:sp>
        <p:nvSpPr>
          <p:cNvPr id="28" name="Text 21"/>
          <p:cNvSpPr txBox="1"/>
          <p:nvPr/>
        </p:nvSpPr>
        <p:spPr>
          <a:xfrm>
            <a:off x="4645152" y="5349240"/>
            <a:ext cx="3099816" cy="685800"/>
          </a:xfrm>
          <a:prstGeom prst="rect">
            <a:avLst/>
          </a:prstGeom>
          <a:noFill/>
          <a:ln/>
        </p:spPr>
        <p:txBody>
          <a:bodyPr wrap="square" lIns="0" tIns="0" rIns="0" bIns="0" rtlCol="0" anchor="ctr"/>
          <a:lstStyle/>
          <a:p>
            <a:pPr indent="0" marL="0">
              <a:buNone/>
            </a:pPr>
            <a:r>
              <a:rPr lang="en-US" sz="1150" dirty="0">
                <a:solidFill>
                  <a:srgbClr val="5B6B79"/>
                </a:solidFill>
                <a:latin typeface="Calibri" pitchFamily="34" charset="0"/>
                <a:ea typeface="Calibri" pitchFamily="34" charset="-122"/>
                <a:cs typeface="Calibri" pitchFamily="34" charset="-120"/>
              </a:rPr>
              <a:t>Every answer is Verified, User-confirmed, Partial, Conflict, or Unknown.</a:t>
            </a:r>
            <a:endParaRPr lang="en-US" sz="1150" dirty="0"/>
          </a:p>
        </p:txBody>
      </p:sp>
      <p:sp>
        <p:nvSpPr>
          <p:cNvPr id="29" name="Shape 22"/>
          <p:cNvSpPr/>
          <p:nvPr/>
        </p:nvSpPr>
        <p:spPr>
          <a:xfrm>
            <a:off x="8229600" y="4114800"/>
            <a:ext cx="3611880" cy="1965960"/>
          </a:xfrm>
          <a:prstGeom prst="roundRect">
            <a:avLst>
              <a:gd name="adj" fmla="val 4651"/>
            </a:avLst>
          </a:prstGeom>
          <a:solidFill>
            <a:srgbClr val="FFFFFF"/>
          </a:solidFill>
          <a:ln w="12700">
            <a:solidFill>
              <a:srgbClr val="E1E6EB"/>
            </a:solidFill>
            <a:prstDash val="solid"/>
          </a:ln>
          <a:effectLst>
            <a:outerShdw sx="100000" sy="100000" kx="0" ky="0" algn="bl" rotWithShape="0" blurRad="76200" dist="25400" dir="5400000">
              <a:srgbClr val="000000">
                <a:alpha val="7000"/>
              </a:srgbClr>
            </a:outerShdw>
          </a:effectLst>
        </p:spPr>
      </p:sp>
      <p:sp>
        <p:nvSpPr>
          <p:cNvPr id="30" name="Shape 23"/>
          <p:cNvSpPr/>
          <p:nvPr/>
        </p:nvSpPr>
        <p:spPr>
          <a:xfrm>
            <a:off x="8485632" y="4370832"/>
            <a:ext cx="502920" cy="502920"/>
          </a:xfrm>
          <a:prstGeom prst="ellipse">
            <a:avLst/>
          </a:prstGeom>
          <a:solidFill>
            <a:srgbClr val="CADCFC"/>
          </a:solidFill>
          <a:ln w="12700">
            <a:solidFill>
              <a:srgbClr val="CADCFC"/>
            </a:solidFill>
            <a:prstDash val="solid"/>
          </a:ln>
        </p:spPr>
      </p:sp>
      <p:pic>
        <p:nvPicPr>
          <p:cNvPr id="31" name="Image 5" descr="/tmp/claude-0/-home-claude/4d7af575-a239-5aaf-bcca-b53c3061710f/scratchpad/icons/flag-navy.png">    </p:cNvPr>
          <p:cNvPicPr>
            <a:picLocks noChangeAspect="1"/>
          </p:cNvPicPr>
          <p:nvPr/>
        </p:nvPicPr>
        <p:blipFill>
          <a:blip r:embed="rId6"/>
          <a:stretch>
            <a:fillRect/>
          </a:stretch>
        </p:blipFill>
        <p:spPr>
          <a:xfrm>
            <a:off x="8616391" y="4501591"/>
            <a:ext cx="241402" cy="241402"/>
          </a:xfrm>
          <a:prstGeom prst="rect">
            <a:avLst/>
          </a:prstGeom>
        </p:spPr>
      </p:pic>
      <p:sp>
        <p:nvSpPr>
          <p:cNvPr id="32" name="Text 24"/>
          <p:cNvSpPr txBox="1"/>
          <p:nvPr/>
        </p:nvSpPr>
        <p:spPr>
          <a:xfrm>
            <a:off x="8485632" y="4983480"/>
            <a:ext cx="3099816" cy="365760"/>
          </a:xfrm>
          <a:prstGeom prst="rect">
            <a:avLst/>
          </a:prstGeom>
          <a:noFill/>
          <a:ln/>
        </p:spPr>
        <p:txBody>
          <a:bodyPr wrap="square" lIns="0" tIns="0" rIns="0" bIns="0" rtlCol="0" anchor="ctr"/>
          <a:lstStyle/>
          <a:p>
            <a:pPr indent="0" marL="0">
              <a:buNone/>
            </a:pPr>
            <a:r>
              <a:rPr lang="en-US" sz="1500" b="1" dirty="0">
                <a:solidFill>
                  <a:srgbClr val="17202B"/>
                </a:solidFill>
                <a:latin typeface="Calibri" pitchFamily="34" charset="0"/>
                <a:ea typeface="Calibri" pitchFamily="34" charset="-122"/>
                <a:cs typeface="Calibri" pitchFamily="34" charset="-120"/>
              </a:rPr>
              <a:t>Never invent an answer</a:t>
            </a:r>
            <a:endParaRPr lang="en-US" sz="1500" dirty="0"/>
          </a:p>
        </p:txBody>
      </p:sp>
      <p:sp>
        <p:nvSpPr>
          <p:cNvPr id="33" name="Text 25"/>
          <p:cNvSpPr txBox="1"/>
          <p:nvPr/>
        </p:nvSpPr>
        <p:spPr>
          <a:xfrm>
            <a:off x="8485632" y="5349240"/>
            <a:ext cx="3099816" cy="685800"/>
          </a:xfrm>
          <a:prstGeom prst="rect">
            <a:avLst/>
          </a:prstGeom>
          <a:noFill/>
          <a:ln/>
        </p:spPr>
        <p:txBody>
          <a:bodyPr wrap="square" lIns="0" tIns="0" rIns="0" bIns="0" rtlCol="0" anchor="ctr"/>
          <a:lstStyle/>
          <a:p>
            <a:pPr indent="0" marL="0">
              <a:buNone/>
            </a:pPr>
            <a:r>
              <a:rPr lang="en-US" sz="1150" dirty="0">
                <a:solidFill>
                  <a:srgbClr val="5B6B79"/>
                </a:solidFill>
                <a:latin typeface="Calibri" pitchFamily="34" charset="0"/>
                <a:ea typeface="Calibri" pitchFamily="34" charset="-122"/>
                <a:cs typeface="Calibri" pitchFamily="34" charset="-120"/>
              </a:rPr>
              <a:t>The golden rule. A policy is not proof of implementation.</a:t>
            </a:r>
            <a:endParaRPr lang="en-US" sz="1150" dirty="0"/>
          </a:p>
        </p:txBody>
      </p:sp>
      <p:sp>
        <p:nvSpPr>
          <p:cNvPr id="34" name="Text 26"/>
          <p:cNvSpPr txBox="1"/>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B7C0C9"/>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1826"/>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200" b="1" spc="200" kern="0" dirty="0">
                <a:solidFill>
                  <a:srgbClr val="8FA6C9"/>
                </a:solidFill>
                <a:latin typeface="Calibri" pitchFamily="34" charset="0"/>
                <a:ea typeface="Calibri" pitchFamily="34" charset="-122"/>
                <a:cs typeface="Calibri" pitchFamily="34" charset="-120"/>
              </a:rPr>
              <a:t>THE GOLDEN RULE</a:t>
            </a:r>
            <a:endParaRPr lang="en-US" sz="1200" dirty="0"/>
          </a:p>
        </p:txBody>
      </p:sp>
      <p:sp>
        <p:nvSpPr>
          <p:cNvPr id="3" name="Text 1"/>
          <p:cNvSpPr txBox="1"/>
          <p:nvPr/>
        </p:nvSpPr>
        <p:spPr>
          <a:xfrm>
            <a:off x="548640" y="713232"/>
            <a:ext cx="11091672" cy="8229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Never invent an answer. Every claim carries its own confidence.</a:t>
            </a:r>
            <a:endParaRPr lang="en-US" sz="3000" dirty="0"/>
          </a:p>
        </p:txBody>
      </p:sp>
      <p:sp>
        <p:nvSpPr>
          <p:cNvPr id="4" name="Shape 2"/>
          <p:cNvSpPr/>
          <p:nvPr/>
        </p:nvSpPr>
        <p:spPr>
          <a:xfrm>
            <a:off x="548640" y="2103120"/>
            <a:ext cx="2121408" cy="3566160"/>
          </a:xfrm>
          <a:prstGeom prst="roundRect">
            <a:avLst>
              <a:gd name="adj" fmla="val 4310"/>
            </a:avLst>
          </a:prstGeom>
          <a:solidFill>
            <a:srgbClr val="1B2A41"/>
          </a:solidFill>
          <a:ln w="12700">
            <a:solidFill>
              <a:srgbClr val="1B2A41"/>
            </a:solidFill>
            <a:prstDash val="solid"/>
          </a:ln>
        </p:spPr>
      </p:sp>
      <p:sp>
        <p:nvSpPr>
          <p:cNvPr id="5" name="Shape 3"/>
          <p:cNvSpPr/>
          <p:nvPr/>
        </p:nvSpPr>
        <p:spPr>
          <a:xfrm>
            <a:off x="548640" y="2103120"/>
            <a:ext cx="2121408" cy="109728"/>
          </a:xfrm>
          <a:prstGeom prst="roundRect">
            <a:avLst/>
          </a:prstGeom>
          <a:solidFill>
            <a:srgbClr val="1B2A41"/>
          </a:solidFill>
          <a:ln w="12700">
            <a:solidFill>
              <a:srgbClr val="1B2A41"/>
            </a:solidFill>
            <a:prstDash val="solid"/>
          </a:ln>
        </p:spPr>
      </p:sp>
      <p:sp>
        <p:nvSpPr>
          <p:cNvPr id="6" name="Shape 4"/>
          <p:cNvSpPr/>
          <p:nvPr/>
        </p:nvSpPr>
        <p:spPr>
          <a:xfrm>
            <a:off x="1289304" y="2423160"/>
            <a:ext cx="640080" cy="640080"/>
          </a:xfrm>
          <a:prstGeom prst="ellipse">
            <a:avLst/>
          </a:prstGeom>
          <a:solidFill>
            <a:srgbClr val="1B8A5A"/>
          </a:solidFill>
          <a:ln w="12700">
            <a:solidFill>
              <a:srgbClr val="1B8A5A"/>
            </a:solidFill>
            <a:prstDash val="solid"/>
          </a:ln>
        </p:spPr>
      </p:sp>
      <p:pic>
        <p:nvPicPr>
          <p:cNvPr id="7" name="Image 0" descr="/tmp/claude-0/-home-claude/4d7af575-a239-5aaf-bcca-b53c3061710f/scratchpad/icons/check-navy.png">    </p:cNvPr>
          <p:cNvPicPr>
            <a:picLocks noChangeAspect="1"/>
          </p:cNvPicPr>
          <p:nvPr/>
        </p:nvPicPr>
        <p:blipFill>
          <a:blip r:embed="rId1"/>
          <a:stretch>
            <a:fillRect/>
          </a:stretch>
        </p:blipFill>
        <p:spPr>
          <a:xfrm>
            <a:off x="1455725" y="2589581"/>
            <a:ext cx="307238" cy="307238"/>
          </a:xfrm>
          <a:prstGeom prst="rect">
            <a:avLst/>
          </a:prstGeom>
        </p:spPr>
      </p:pic>
      <p:sp>
        <p:nvSpPr>
          <p:cNvPr id="8" name="Text 5"/>
          <p:cNvSpPr txBox="1"/>
          <p:nvPr/>
        </p:nvSpPr>
        <p:spPr>
          <a:xfrm>
            <a:off x="685800" y="3246120"/>
            <a:ext cx="1847088"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Verified</a:t>
            </a:r>
            <a:endParaRPr lang="en-US" sz="1600" dirty="0"/>
          </a:p>
        </p:txBody>
      </p:sp>
      <p:sp>
        <p:nvSpPr>
          <p:cNvPr id="9" name="Text 6"/>
          <p:cNvSpPr txBox="1"/>
          <p:nvPr/>
        </p:nvSpPr>
        <p:spPr>
          <a:xfrm>
            <a:off x="731520" y="3749040"/>
            <a:ext cx="1755648" cy="1828800"/>
          </a:xfrm>
          <a:prstGeom prst="rect">
            <a:avLst/>
          </a:prstGeom>
          <a:noFill/>
          <a:ln/>
        </p:spPr>
        <p:txBody>
          <a:bodyPr wrap="square" lIns="0" tIns="0" rIns="0" bIns="0" rtlCol="0" anchor="ctr"/>
          <a:lstStyle/>
          <a:p>
            <a:pPr algn="ctr" indent="0" marL="0">
              <a:buNone/>
            </a:pPr>
            <a:r>
              <a:rPr lang="en-US" sz="1150" dirty="0">
                <a:solidFill>
                  <a:srgbClr val="AEB9C7"/>
                </a:solidFill>
                <a:latin typeface="Calibri" pitchFamily="34" charset="0"/>
                <a:ea typeface="Calibri" pitchFamily="34" charset="-122"/>
                <a:cs typeface="Calibri" pitchFamily="34" charset="-120"/>
              </a:rPr>
              <a:t>Confirmed from company documents, with evidence attached.</a:t>
            </a:r>
            <a:endParaRPr lang="en-US" sz="1150" dirty="0"/>
          </a:p>
        </p:txBody>
      </p:sp>
      <p:sp>
        <p:nvSpPr>
          <p:cNvPr id="10" name="Shape 7"/>
          <p:cNvSpPr/>
          <p:nvPr/>
        </p:nvSpPr>
        <p:spPr>
          <a:xfrm>
            <a:off x="2798064" y="2103120"/>
            <a:ext cx="2121408" cy="3566160"/>
          </a:xfrm>
          <a:prstGeom prst="roundRect">
            <a:avLst>
              <a:gd name="adj" fmla="val 4310"/>
            </a:avLst>
          </a:prstGeom>
          <a:solidFill>
            <a:srgbClr val="1B2A41"/>
          </a:solidFill>
          <a:ln w="12700">
            <a:solidFill>
              <a:srgbClr val="1B2A41"/>
            </a:solidFill>
            <a:prstDash val="solid"/>
          </a:ln>
        </p:spPr>
      </p:sp>
      <p:sp>
        <p:nvSpPr>
          <p:cNvPr id="11" name="Shape 8"/>
          <p:cNvSpPr/>
          <p:nvPr/>
        </p:nvSpPr>
        <p:spPr>
          <a:xfrm>
            <a:off x="2798064" y="2103120"/>
            <a:ext cx="2121408" cy="109728"/>
          </a:xfrm>
          <a:prstGeom prst="roundRect">
            <a:avLst/>
          </a:prstGeom>
          <a:solidFill>
            <a:srgbClr val="1B2A41"/>
          </a:solidFill>
          <a:ln w="12700">
            <a:solidFill>
              <a:srgbClr val="1B2A41"/>
            </a:solidFill>
            <a:prstDash val="solid"/>
          </a:ln>
        </p:spPr>
      </p:sp>
      <p:sp>
        <p:nvSpPr>
          <p:cNvPr id="12" name="Shape 9"/>
          <p:cNvSpPr/>
          <p:nvPr/>
        </p:nvSpPr>
        <p:spPr>
          <a:xfrm>
            <a:off x="3538728" y="2423160"/>
            <a:ext cx="640080" cy="640080"/>
          </a:xfrm>
          <a:prstGeom prst="ellipse">
            <a:avLst/>
          </a:prstGeom>
          <a:solidFill>
            <a:srgbClr val="1C7293"/>
          </a:solidFill>
          <a:ln w="12700">
            <a:solidFill>
              <a:srgbClr val="1C7293"/>
            </a:solidFill>
            <a:prstDash val="solid"/>
          </a:ln>
        </p:spPr>
      </p:sp>
      <p:pic>
        <p:nvPicPr>
          <p:cNvPr id="13" name="Image 1" descr="/tmp/claude-0/-home-claude/4d7af575-a239-5aaf-bcca-b53c3061710f/scratchpad/icons/message-navy.png">    </p:cNvPr>
          <p:cNvPicPr>
            <a:picLocks noChangeAspect="1"/>
          </p:cNvPicPr>
          <p:nvPr/>
        </p:nvPicPr>
        <p:blipFill>
          <a:blip r:embed="rId2"/>
          <a:stretch>
            <a:fillRect/>
          </a:stretch>
        </p:blipFill>
        <p:spPr>
          <a:xfrm>
            <a:off x="3705149" y="2589581"/>
            <a:ext cx="307238" cy="307238"/>
          </a:xfrm>
          <a:prstGeom prst="rect">
            <a:avLst/>
          </a:prstGeom>
        </p:spPr>
      </p:pic>
      <p:sp>
        <p:nvSpPr>
          <p:cNvPr id="14" name="Text 10"/>
          <p:cNvSpPr txBox="1"/>
          <p:nvPr/>
        </p:nvSpPr>
        <p:spPr>
          <a:xfrm>
            <a:off x="2935224" y="3246120"/>
            <a:ext cx="1847088"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User-confirmed</a:t>
            </a:r>
            <a:endParaRPr lang="en-US" sz="1600" dirty="0"/>
          </a:p>
        </p:txBody>
      </p:sp>
      <p:sp>
        <p:nvSpPr>
          <p:cNvPr id="15" name="Text 11"/>
          <p:cNvSpPr txBox="1"/>
          <p:nvPr/>
        </p:nvSpPr>
        <p:spPr>
          <a:xfrm>
            <a:off x="2980944" y="3749040"/>
            <a:ext cx="1755648" cy="1828800"/>
          </a:xfrm>
          <a:prstGeom prst="rect">
            <a:avLst/>
          </a:prstGeom>
          <a:noFill/>
          <a:ln/>
        </p:spPr>
        <p:txBody>
          <a:bodyPr wrap="square" lIns="0" tIns="0" rIns="0" bIns="0" rtlCol="0" anchor="ctr"/>
          <a:lstStyle/>
          <a:p>
            <a:pPr algn="ctr" indent="0" marL="0">
              <a:buNone/>
            </a:pPr>
            <a:r>
              <a:rPr lang="en-US" sz="1150" dirty="0">
                <a:solidFill>
                  <a:srgbClr val="AEB9C7"/>
                </a:solidFill>
                <a:latin typeface="Calibri" pitchFamily="34" charset="0"/>
                <a:ea typeface="Calibri" pitchFamily="34" charset="-122"/>
                <a:cs typeface="Calibri" pitchFamily="34" charset="-120"/>
              </a:rPr>
              <a:t>Stated by an employee, with no documentary evidence yet.</a:t>
            </a:r>
            <a:endParaRPr lang="en-US" sz="1150" dirty="0"/>
          </a:p>
        </p:txBody>
      </p:sp>
      <p:sp>
        <p:nvSpPr>
          <p:cNvPr id="16" name="Shape 12"/>
          <p:cNvSpPr/>
          <p:nvPr/>
        </p:nvSpPr>
        <p:spPr>
          <a:xfrm>
            <a:off x="5047488" y="2103120"/>
            <a:ext cx="2121408" cy="3566160"/>
          </a:xfrm>
          <a:prstGeom prst="roundRect">
            <a:avLst>
              <a:gd name="adj" fmla="val 4310"/>
            </a:avLst>
          </a:prstGeom>
          <a:solidFill>
            <a:srgbClr val="1B2A41"/>
          </a:solidFill>
          <a:ln w="12700">
            <a:solidFill>
              <a:srgbClr val="1B2A41"/>
            </a:solidFill>
            <a:prstDash val="solid"/>
          </a:ln>
        </p:spPr>
      </p:sp>
      <p:sp>
        <p:nvSpPr>
          <p:cNvPr id="17" name="Shape 13"/>
          <p:cNvSpPr/>
          <p:nvPr/>
        </p:nvSpPr>
        <p:spPr>
          <a:xfrm>
            <a:off x="5047488" y="2103120"/>
            <a:ext cx="2121408" cy="109728"/>
          </a:xfrm>
          <a:prstGeom prst="roundRect">
            <a:avLst/>
          </a:prstGeom>
          <a:solidFill>
            <a:srgbClr val="1B2A41"/>
          </a:solidFill>
          <a:ln w="12700">
            <a:solidFill>
              <a:srgbClr val="1B2A41"/>
            </a:solidFill>
            <a:prstDash val="solid"/>
          </a:ln>
        </p:spPr>
      </p:sp>
      <p:sp>
        <p:nvSpPr>
          <p:cNvPr id="18" name="Shape 14"/>
          <p:cNvSpPr/>
          <p:nvPr/>
        </p:nvSpPr>
        <p:spPr>
          <a:xfrm>
            <a:off x="5788152" y="2423160"/>
            <a:ext cx="640080" cy="640080"/>
          </a:xfrm>
          <a:prstGeom prst="ellipse">
            <a:avLst/>
          </a:prstGeom>
          <a:solidFill>
            <a:srgbClr val="C98A2C"/>
          </a:solidFill>
          <a:ln w="12700">
            <a:solidFill>
              <a:srgbClr val="C98A2C"/>
            </a:solidFill>
            <a:prstDash val="solid"/>
          </a:ln>
        </p:spPr>
      </p:sp>
      <p:pic>
        <p:nvPicPr>
          <p:cNvPr id="19" name="Image 2" descr="/tmp/claude-0/-home-claude/4d7af575-a239-5aaf-bcca-b53c3061710f/scratchpad/icons/help-navy.png">    </p:cNvPr>
          <p:cNvPicPr>
            <a:picLocks noChangeAspect="1"/>
          </p:cNvPicPr>
          <p:nvPr/>
        </p:nvPicPr>
        <p:blipFill>
          <a:blip r:embed="rId3"/>
          <a:stretch>
            <a:fillRect/>
          </a:stretch>
        </p:blipFill>
        <p:spPr>
          <a:xfrm>
            <a:off x="5954573" y="2589581"/>
            <a:ext cx="307238" cy="307238"/>
          </a:xfrm>
          <a:prstGeom prst="rect">
            <a:avLst/>
          </a:prstGeom>
        </p:spPr>
      </p:pic>
      <p:sp>
        <p:nvSpPr>
          <p:cNvPr id="20" name="Text 15"/>
          <p:cNvSpPr txBox="1"/>
          <p:nvPr/>
        </p:nvSpPr>
        <p:spPr>
          <a:xfrm>
            <a:off x="5184648" y="3246120"/>
            <a:ext cx="1847088"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Partial</a:t>
            </a:r>
            <a:endParaRPr lang="en-US" sz="1600" dirty="0"/>
          </a:p>
        </p:txBody>
      </p:sp>
      <p:sp>
        <p:nvSpPr>
          <p:cNvPr id="21" name="Text 16"/>
          <p:cNvSpPr txBox="1"/>
          <p:nvPr/>
        </p:nvSpPr>
        <p:spPr>
          <a:xfrm>
            <a:off x="5230368" y="3749040"/>
            <a:ext cx="1755648" cy="1828800"/>
          </a:xfrm>
          <a:prstGeom prst="rect">
            <a:avLst/>
          </a:prstGeom>
          <a:noFill/>
          <a:ln/>
        </p:spPr>
        <p:txBody>
          <a:bodyPr wrap="square" lIns="0" tIns="0" rIns="0" bIns="0" rtlCol="0" anchor="ctr"/>
          <a:lstStyle/>
          <a:p>
            <a:pPr algn="ctr" indent="0" marL="0">
              <a:buNone/>
            </a:pPr>
            <a:r>
              <a:rPr lang="en-US" sz="1150" dirty="0">
                <a:solidFill>
                  <a:srgbClr val="AEB9C7"/>
                </a:solidFill>
                <a:latin typeface="Calibri" pitchFamily="34" charset="0"/>
                <a:ea typeface="Calibri" pitchFamily="34" charset="-122"/>
                <a:cs typeface="Calibri" pitchFamily="34" charset="-120"/>
              </a:rPr>
              <a:t>Some, but not all, of the required details are known.</a:t>
            </a:r>
            <a:endParaRPr lang="en-US" sz="1150" dirty="0"/>
          </a:p>
        </p:txBody>
      </p:sp>
      <p:sp>
        <p:nvSpPr>
          <p:cNvPr id="22" name="Shape 17"/>
          <p:cNvSpPr/>
          <p:nvPr/>
        </p:nvSpPr>
        <p:spPr>
          <a:xfrm>
            <a:off x="7296912" y="2103120"/>
            <a:ext cx="2121408" cy="3566160"/>
          </a:xfrm>
          <a:prstGeom prst="roundRect">
            <a:avLst>
              <a:gd name="adj" fmla="val 4310"/>
            </a:avLst>
          </a:prstGeom>
          <a:solidFill>
            <a:srgbClr val="1B2A41"/>
          </a:solidFill>
          <a:ln w="12700">
            <a:solidFill>
              <a:srgbClr val="1B2A41"/>
            </a:solidFill>
            <a:prstDash val="solid"/>
          </a:ln>
        </p:spPr>
      </p:sp>
      <p:sp>
        <p:nvSpPr>
          <p:cNvPr id="23" name="Shape 18"/>
          <p:cNvSpPr/>
          <p:nvPr/>
        </p:nvSpPr>
        <p:spPr>
          <a:xfrm>
            <a:off x="7296912" y="2103120"/>
            <a:ext cx="2121408" cy="109728"/>
          </a:xfrm>
          <a:prstGeom prst="roundRect">
            <a:avLst/>
          </a:prstGeom>
          <a:solidFill>
            <a:srgbClr val="1B2A41"/>
          </a:solidFill>
          <a:ln w="12700">
            <a:solidFill>
              <a:srgbClr val="1B2A41"/>
            </a:solidFill>
            <a:prstDash val="solid"/>
          </a:ln>
        </p:spPr>
      </p:sp>
      <p:sp>
        <p:nvSpPr>
          <p:cNvPr id="24" name="Shape 19"/>
          <p:cNvSpPr/>
          <p:nvPr/>
        </p:nvSpPr>
        <p:spPr>
          <a:xfrm>
            <a:off x="8037576" y="2423160"/>
            <a:ext cx="640080" cy="640080"/>
          </a:xfrm>
          <a:prstGeom prst="ellipse">
            <a:avLst/>
          </a:prstGeom>
          <a:solidFill>
            <a:srgbClr val="C0392B"/>
          </a:solidFill>
          <a:ln w="12700">
            <a:solidFill>
              <a:srgbClr val="C0392B"/>
            </a:solidFill>
            <a:prstDash val="solid"/>
          </a:ln>
        </p:spPr>
      </p:sp>
      <p:pic>
        <p:nvPicPr>
          <p:cNvPr id="25" name="Image 3" descr="/tmp/claude-0/-home-claude/4d7af575-a239-5aaf-bcca-b53c3061710f/scratchpad/icons/alert-navy.png">    </p:cNvPr>
          <p:cNvPicPr>
            <a:picLocks noChangeAspect="1"/>
          </p:cNvPicPr>
          <p:nvPr/>
        </p:nvPicPr>
        <p:blipFill>
          <a:blip r:embed="rId4"/>
          <a:stretch>
            <a:fillRect/>
          </a:stretch>
        </p:blipFill>
        <p:spPr>
          <a:xfrm>
            <a:off x="8203997" y="2589581"/>
            <a:ext cx="307238" cy="307238"/>
          </a:xfrm>
          <a:prstGeom prst="rect">
            <a:avLst/>
          </a:prstGeom>
        </p:spPr>
      </p:pic>
      <p:sp>
        <p:nvSpPr>
          <p:cNvPr id="26" name="Text 20"/>
          <p:cNvSpPr txBox="1"/>
          <p:nvPr/>
        </p:nvSpPr>
        <p:spPr>
          <a:xfrm>
            <a:off x="7434072" y="3246120"/>
            <a:ext cx="1847088"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Conflict</a:t>
            </a:r>
            <a:endParaRPr lang="en-US" sz="1600" dirty="0"/>
          </a:p>
        </p:txBody>
      </p:sp>
      <p:sp>
        <p:nvSpPr>
          <p:cNvPr id="27" name="Text 21"/>
          <p:cNvSpPr txBox="1"/>
          <p:nvPr/>
        </p:nvSpPr>
        <p:spPr>
          <a:xfrm>
            <a:off x="7479792" y="3749040"/>
            <a:ext cx="1755648" cy="1828800"/>
          </a:xfrm>
          <a:prstGeom prst="rect">
            <a:avLst/>
          </a:prstGeom>
          <a:noFill/>
          <a:ln/>
        </p:spPr>
        <p:txBody>
          <a:bodyPr wrap="square" lIns="0" tIns="0" rIns="0" bIns="0" rtlCol="0" anchor="ctr"/>
          <a:lstStyle/>
          <a:p>
            <a:pPr algn="ctr" indent="0" marL="0">
              <a:buNone/>
            </a:pPr>
            <a:r>
              <a:rPr lang="en-US" sz="1150" dirty="0">
                <a:solidFill>
                  <a:srgbClr val="AEB9C7"/>
                </a:solidFill>
                <a:latin typeface="Calibri" pitchFamily="34" charset="0"/>
                <a:ea typeface="Calibri" pitchFamily="34" charset="-122"/>
                <a:cs typeface="Calibri" pitchFamily="34" charset="-120"/>
              </a:rPr>
              <a:t>Two sources disagree. The assistant asks, it doesn't guess.</a:t>
            </a:r>
            <a:endParaRPr lang="en-US" sz="1150" dirty="0"/>
          </a:p>
        </p:txBody>
      </p:sp>
      <p:sp>
        <p:nvSpPr>
          <p:cNvPr id="28" name="Shape 22"/>
          <p:cNvSpPr/>
          <p:nvPr/>
        </p:nvSpPr>
        <p:spPr>
          <a:xfrm>
            <a:off x="9546336" y="2103120"/>
            <a:ext cx="2121408" cy="3566160"/>
          </a:xfrm>
          <a:prstGeom prst="roundRect">
            <a:avLst>
              <a:gd name="adj" fmla="val 4310"/>
            </a:avLst>
          </a:prstGeom>
          <a:solidFill>
            <a:srgbClr val="1B2A41"/>
          </a:solidFill>
          <a:ln w="12700">
            <a:solidFill>
              <a:srgbClr val="1B2A41"/>
            </a:solidFill>
            <a:prstDash val="solid"/>
          </a:ln>
        </p:spPr>
      </p:sp>
      <p:sp>
        <p:nvSpPr>
          <p:cNvPr id="29" name="Shape 23"/>
          <p:cNvSpPr/>
          <p:nvPr/>
        </p:nvSpPr>
        <p:spPr>
          <a:xfrm>
            <a:off x="9546336" y="2103120"/>
            <a:ext cx="2121408" cy="109728"/>
          </a:xfrm>
          <a:prstGeom prst="roundRect">
            <a:avLst/>
          </a:prstGeom>
          <a:solidFill>
            <a:srgbClr val="1B2A41"/>
          </a:solidFill>
          <a:ln w="12700">
            <a:solidFill>
              <a:srgbClr val="1B2A41"/>
            </a:solidFill>
            <a:prstDash val="solid"/>
          </a:ln>
        </p:spPr>
      </p:sp>
      <p:sp>
        <p:nvSpPr>
          <p:cNvPr id="30" name="Shape 24"/>
          <p:cNvSpPr/>
          <p:nvPr/>
        </p:nvSpPr>
        <p:spPr>
          <a:xfrm>
            <a:off x="10287000" y="2423160"/>
            <a:ext cx="640080" cy="640080"/>
          </a:xfrm>
          <a:prstGeom prst="ellipse">
            <a:avLst/>
          </a:prstGeom>
          <a:solidFill>
            <a:srgbClr val="8A94A0"/>
          </a:solidFill>
          <a:ln w="12700">
            <a:solidFill>
              <a:srgbClr val="8A94A0"/>
            </a:solidFill>
            <a:prstDash val="solid"/>
          </a:ln>
        </p:spPr>
      </p:sp>
      <p:pic>
        <p:nvPicPr>
          <p:cNvPr id="31" name="Image 4" descr="/tmp/claude-0/-home-claude/4d7af575-a239-5aaf-bcca-b53c3061710f/scratchpad/icons/database-navy.png">    </p:cNvPr>
          <p:cNvPicPr>
            <a:picLocks noChangeAspect="1"/>
          </p:cNvPicPr>
          <p:nvPr/>
        </p:nvPicPr>
        <p:blipFill>
          <a:blip r:embed="rId5"/>
          <a:stretch>
            <a:fillRect/>
          </a:stretch>
        </p:blipFill>
        <p:spPr>
          <a:xfrm>
            <a:off x="10453421" y="2589581"/>
            <a:ext cx="307238" cy="307238"/>
          </a:xfrm>
          <a:prstGeom prst="rect">
            <a:avLst/>
          </a:prstGeom>
        </p:spPr>
      </p:pic>
      <p:sp>
        <p:nvSpPr>
          <p:cNvPr id="32" name="Text 25"/>
          <p:cNvSpPr txBox="1"/>
          <p:nvPr/>
        </p:nvSpPr>
        <p:spPr>
          <a:xfrm>
            <a:off x="9683496" y="3246120"/>
            <a:ext cx="1847088"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Unknown</a:t>
            </a:r>
            <a:endParaRPr lang="en-US" sz="1600" dirty="0"/>
          </a:p>
        </p:txBody>
      </p:sp>
      <p:sp>
        <p:nvSpPr>
          <p:cNvPr id="33" name="Text 26"/>
          <p:cNvSpPr txBox="1"/>
          <p:nvPr/>
        </p:nvSpPr>
        <p:spPr>
          <a:xfrm>
            <a:off x="9729216" y="3749040"/>
            <a:ext cx="1755648" cy="1828800"/>
          </a:xfrm>
          <a:prstGeom prst="rect">
            <a:avLst/>
          </a:prstGeom>
          <a:noFill/>
          <a:ln/>
        </p:spPr>
        <p:txBody>
          <a:bodyPr wrap="square" lIns="0" tIns="0" rIns="0" bIns="0" rtlCol="0" anchor="ctr"/>
          <a:lstStyle/>
          <a:p>
            <a:pPr algn="ctr" indent="0" marL="0">
              <a:buNone/>
            </a:pPr>
            <a:r>
              <a:rPr lang="en-US" sz="1150" dirty="0">
                <a:solidFill>
                  <a:srgbClr val="AEB9C7"/>
                </a:solidFill>
                <a:latin typeface="Calibri" pitchFamily="34" charset="0"/>
                <a:ea typeface="Calibri" pitchFamily="34" charset="-122"/>
                <a:cs typeface="Calibri" pitchFamily="34" charset="-120"/>
              </a:rPr>
              <a:t>No evidence and no confirmation exist yet.</a:t>
            </a:r>
            <a:endParaRPr lang="en-US" sz="1150" dirty="0"/>
          </a:p>
        </p:txBody>
      </p:sp>
      <p:sp>
        <p:nvSpPr>
          <p:cNvPr id="34" name="Text 27"/>
          <p:cNvSpPr txBox="1"/>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ARCHITECTURE</a:t>
            </a:r>
            <a:endParaRPr lang="en-US" sz="1200" dirty="0"/>
          </a:p>
        </p:txBody>
      </p:sp>
      <p:sp>
        <p:nvSpPr>
          <p:cNvPr id="3" name="Text 1"/>
          <p:cNvSpPr txBox="1"/>
          <p:nvPr/>
        </p:nvSpPr>
        <p:spPr>
          <a:xfrm>
            <a:off x="548640" y="713232"/>
            <a:ext cx="11091672" cy="822960"/>
          </a:xfrm>
          <a:prstGeom prst="rect">
            <a:avLst/>
          </a:prstGeom>
          <a:noFill/>
          <a:ln/>
        </p:spPr>
        <p:txBody>
          <a:bodyPr wrap="square" lIns="0" tIns="0" rIns="0" bIns="0" rtlCol="0" anchor="ctr"/>
          <a:lstStyle/>
          <a:p>
            <a:pPr indent="0" marL="0">
              <a:buNone/>
            </a:pPr>
            <a:r>
              <a:rPr lang="en-US" sz="3000" b="1" dirty="0">
                <a:solidFill>
                  <a:srgbClr val="17202B"/>
                </a:solidFill>
                <a:latin typeface="Cambria" pitchFamily="34" charset="0"/>
                <a:ea typeface="Cambria" pitchFamily="34" charset="-122"/>
                <a:cs typeface="Cambria" pitchFamily="34" charset="-120"/>
              </a:rPr>
              <a:t>One bounded investigation loop, one system of record</a:t>
            </a:r>
            <a:endParaRPr lang="en-US" sz="3000" dirty="0"/>
          </a:p>
        </p:txBody>
      </p:sp>
      <p:sp>
        <p:nvSpPr>
          <p:cNvPr id="4" name="Shape 2"/>
          <p:cNvSpPr/>
          <p:nvPr/>
        </p:nvSpPr>
        <p:spPr>
          <a:xfrm>
            <a:off x="548640" y="1874520"/>
            <a:ext cx="2377440" cy="777240"/>
          </a:xfrm>
          <a:prstGeom prst="roundRect">
            <a:avLst>
              <a:gd name="adj" fmla="val 9412"/>
            </a:avLst>
          </a:prstGeom>
          <a:solidFill>
            <a:srgbClr val="E4EFF3"/>
          </a:solidFill>
          <a:ln w="15875">
            <a:solidFill>
              <a:srgbClr val="1C7293"/>
            </a:solidFill>
            <a:prstDash val="solid"/>
          </a:ln>
        </p:spPr>
      </p:sp>
      <p:sp>
        <p:nvSpPr>
          <p:cNvPr id="5" name="Text 3"/>
          <p:cNvSpPr txBox="1"/>
          <p:nvPr/>
        </p:nvSpPr>
        <p:spPr>
          <a:xfrm>
            <a:off x="658368" y="1947672"/>
            <a:ext cx="2157984" cy="320040"/>
          </a:xfrm>
          <a:prstGeom prst="rect">
            <a:avLst/>
          </a:prstGeom>
          <a:noFill/>
          <a:ln/>
        </p:spPr>
        <p:txBody>
          <a:bodyPr wrap="square" lIns="0" tIns="0" rIns="0" bIns="0" rtlCol="0" anchor="ctr"/>
          <a:lstStyle/>
          <a:p>
            <a:pPr indent="0" marL="0">
              <a:buNone/>
            </a:pPr>
            <a:r>
              <a:rPr lang="en-US" sz="1250" b="1" dirty="0">
                <a:solidFill>
                  <a:srgbClr val="17202B"/>
                </a:solidFill>
                <a:latin typeface="Calibri" pitchFamily="34" charset="0"/>
                <a:ea typeface="Calibri" pitchFamily="34" charset="-122"/>
                <a:cs typeface="Calibri" pitchFamily="34" charset="-120"/>
              </a:rPr>
              <a:t>Read-only connectors</a:t>
            </a:r>
            <a:endParaRPr lang="en-US" sz="1250" dirty="0"/>
          </a:p>
        </p:txBody>
      </p:sp>
      <p:sp>
        <p:nvSpPr>
          <p:cNvPr id="6" name="Text 4"/>
          <p:cNvSpPr txBox="1"/>
          <p:nvPr/>
        </p:nvSpPr>
        <p:spPr>
          <a:xfrm>
            <a:off x="658368" y="2240280"/>
            <a:ext cx="2157984" cy="320040"/>
          </a:xfrm>
          <a:prstGeom prst="rect">
            <a:avLst/>
          </a:prstGeom>
          <a:noFill/>
          <a:ln/>
        </p:spPr>
        <p:txBody>
          <a:bodyPr wrap="square" lIns="0" tIns="0" rIns="0" bIns="0" rtlCol="0" anchor="ctr"/>
          <a:lstStyle/>
          <a:p>
            <a:pPr indent="0" marL="0">
              <a:buNone/>
            </a:pPr>
            <a:r>
              <a:rPr lang="en-US" sz="950" dirty="0">
                <a:solidFill>
                  <a:srgbClr val="5B6B79"/>
                </a:solidFill>
                <a:latin typeface="Calibri" pitchFamily="34" charset="0"/>
                <a:ea typeface="Calibri" pitchFamily="34" charset="-122"/>
                <a:cs typeface="Calibri" pitchFamily="34" charset="-120"/>
              </a:rPr>
              <a:t>Files · Slack · Drive · GitHub · Azure</a:t>
            </a:r>
            <a:endParaRPr lang="en-US" sz="950" dirty="0"/>
          </a:p>
        </p:txBody>
      </p:sp>
      <p:sp>
        <p:nvSpPr>
          <p:cNvPr id="7" name="Shape 5"/>
          <p:cNvSpPr/>
          <p:nvPr/>
        </p:nvSpPr>
        <p:spPr>
          <a:xfrm>
            <a:off x="2926080" y="2258568"/>
            <a:ext cx="594360" cy="0"/>
          </a:xfrm>
          <a:prstGeom prst="line">
            <a:avLst/>
          </a:prstGeom>
          <a:noFill/>
          <a:ln w="19050">
            <a:solidFill>
              <a:srgbClr val="9AA6B2"/>
            </a:solidFill>
            <a:prstDash val="solid"/>
            <a:tailEnd type="triangle"/>
          </a:ln>
        </p:spPr>
      </p:sp>
      <p:sp>
        <p:nvSpPr>
          <p:cNvPr id="8" name="Shape 6"/>
          <p:cNvSpPr/>
          <p:nvPr/>
        </p:nvSpPr>
        <p:spPr>
          <a:xfrm>
            <a:off x="3520440" y="1874520"/>
            <a:ext cx="2286000" cy="777240"/>
          </a:xfrm>
          <a:prstGeom prst="roundRect">
            <a:avLst>
              <a:gd name="adj" fmla="val 9412"/>
            </a:avLst>
          </a:prstGeom>
          <a:solidFill>
            <a:srgbClr val="DCE3EC"/>
          </a:solidFill>
          <a:ln w="15875">
            <a:solidFill>
              <a:srgbClr val="121826"/>
            </a:solidFill>
            <a:prstDash val="solid"/>
          </a:ln>
        </p:spPr>
      </p:sp>
      <p:sp>
        <p:nvSpPr>
          <p:cNvPr id="9" name="Text 7"/>
          <p:cNvSpPr txBox="1"/>
          <p:nvPr/>
        </p:nvSpPr>
        <p:spPr>
          <a:xfrm>
            <a:off x="3630168" y="1947672"/>
            <a:ext cx="2066544" cy="320040"/>
          </a:xfrm>
          <a:prstGeom prst="rect">
            <a:avLst/>
          </a:prstGeom>
          <a:noFill/>
          <a:ln/>
        </p:spPr>
        <p:txBody>
          <a:bodyPr wrap="square" lIns="0" tIns="0" rIns="0" bIns="0" rtlCol="0" anchor="ctr"/>
          <a:lstStyle/>
          <a:p>
            <a:pPr indent="0" marL="0">
              <a:buNone/>
            </a:pPr>
            <a:r>
              <a:rPr lang="en-US" sz="1250" b="1" dirty="0">
                <a:solidFill>
                  <a:srgbClr val="17202B"/>
                </a:solidFill>
                <a:latin typeface="Calibri" pitchFamily="34" charset="0"/>
                <a:ea typeface="Calibri" pitchFamily="34" charset="-122"/>
                <a:cs typeface="Calibri" pitchFamily="34" charset="-120"/>
              </a:rPr>
              <a:t>Ingestion &amp; versioning</a:t>
            </a:r>
            <a:endParaRPr lang="en-US" sz="1250" dirty="0"/>
          </a:p>
        </p:txBody>
      </p:sp>
      <p:sp>
        <p:nvSpPr>
          <p:cNvPr id="10" name="Text 8"/>
          <p:cNvSpPr txBox="1"/>
          <p:nvPr/>
        </p:nvSpPr>
        <p:spPr>
          <a:xfrm>
            <a:off x="3630168" y="2240280"/>
            <a:ext cx="2066544" cy="320040"/>
          </a:xfrm>
          <a:prstGeom prst="rect">
            <a:avLst/>
          </a:prstGeom>
          <a:noFill/>
          <a:ln/>
        </p:spPr>
        <p:txBody>
          <a:bodyPr wrap="square" lIns="0" tIns="0" rIns="0" bIns="0" rtlCol="0" anchor="ctr"/>
          <a:lstStyle/>
          <a:p>
            <a:pPr indent="0" marL="0">
              <a:buNone/>
            </a:pPr>
            <a:r>
              <a:rPr lang="en-US" sz="950" dirty="0">
                <a:solidFill>
                  <a:srgbClr val="5B6B79"/>
                </a:solidFill>
                <a:latin typeface="Calibri" pitchFamily="34" charset="0"/>
                <a:ea typeface="Calibri" pitchFamily="34" charset="-122"/>
                <a:cs typeface="Calibri" pitchFamily="34" charset="-120"/>
              </a:rPr>
              <a:t>SHA-256 hash · chunk · embed</a:t>
            </a:r>
            <a:endParaRPr lang="en-US" sz="950" dirty="0"/>
          </a:p>
        </p:txBody>
      </p:sp>
      <p:sp>
        <p:nvSpPr>
          <p:cNvPr id="11" name="Shape 9"/>
          <p:cNvSpPr/>
          <p:nvPr/>
        </p:nvSpPr>
        <p:spPr>
          <a:xfrm>
            <a:off x="5806440" y="2258568"/>
            <a:ext cx="594360" cy="0"/>
          </a:xfrm>
          <a:prstGeom prst="line">
            <a:avLst/>
          </a:prstGeom>
          <a:noFill/>
          <a:ln w="19050">
            <a:solidFill>
              <a:srgbClr val="9AA6B2"/>
            </a:solidFill>
            <a:prstDash val="solid"/>
            <a:tailEnd type="triangle"/>
          </a:ln>
        </p:spPr>
      </p:sp>
      <p:sp>
        <p:nvSpPr>
          <p:cNvPr id="12" name="Shape 10"/>
          <p:cNvSpPr/>
          <p:nvPr/>
        </p:nvSpPr>
        <p:spPr>
          <a:xfrm>
            <a:off x="6400800" y="1874520"/>
            <a:ext cx="2651760" cy="777240"/>
          </a:xfrm>
          <a:prstGeom prst="roundRect">
            <a:avLst>
              <a:gd name="adj" fmla="val 9412"/>
            </a:avLst>
          </a:prstGeom>
          <a:solidFill>
            <a:srgbClr val="DCE3EC"/>
          </a:solidFill>
          <a:ln w="15875">
            <a:solidFill>
              <a:srgbClr val="121826"/>
            </a:solidFill>
            <a:prstDash val="solid"/>
          </a:ln>
        </p:spPr>
      </p:sp>
      <p:sp>
        <p:nvSpPr>
          <p:cNvPr id="13" name="Text 11"/>
          <p:cNvSpPr txBox="1"/>
          <p:nvPr/>
        </p:nvSpPr>
        <p:spPr>
          <a:xfrm>
            <a:off x="6510528" y="1947672"/>
            <a:ext cx="2432304" cy="320040"/>
          </a:xfrm>
          <a:prstGeom prst="rect">
            <a:avLst/>
          </a:prstGeom>
          <a:noFill/>
          <a:ln/>
        </p:spPr>
        <p:txBody>
          <a:bodyPr wrap="square" lIns="0" tIns="0" rIns="0" bIns="0" rtlCol="0" anchor="ctr"/>
          <a:lstStyle/>
          <a:p>
            <a:pPr indent="0" marL="0">
              <a:buNone/>
            </a:pPr>
            <a:r>
              <a:rPr lang="en-US" sz="1250" b="1" dirty="0">
                <a:solidFill>
                  <a:srgbClr val="17202B"/>
                </a:solidFill>
                <a:latin typeface="Calibri" pitchFamily="34" charset="0"/>
                <a:ea typeface="Calibri" pitchFamily="34" charset="-122"/>
                <a:cs typeface="Calibri" pitchFamily="34" charset="-120"/>
              </a:rPr>
              <a:t>PostgreSQL + pgvector</a:t>
            </a:r>
            <a:endParaRPr lang="en-US" sz="1250" dirty="0"/>
          </a:p>
        </p:txBody>
      </p:sp>
      <p:sp>
        <p:nvSpPr>
          <p:cNvPr id="14" name="Text 12"/>
          <p:cNvSpPr txBox="1"/>
          <p:nvPr/>
        </p:nvSpPr>
        <p:spPr>
          <a:xfrm>
            <a:off x="6510528" y="2240280"/>
            <a:ext cx="2432304" cy="320040"/>
          </a:xfrm>
          <a:prstGeom prst="rect">
            <a:avLst/>
          </a:prstGeom>
          <a:noFill/>
          <a:ln/>
        </p:spPr>
        <p:txBody>
          <a:bodyPr wrap="square" lIns="0" tIns="0" rIns="0" bIns="0" rtlCol="0" anchor="ctr"/>
          <a:lstStyle/>
          <a:p>
            <a:pPr indent="0" marL="0">
              <a:buNone/>
            </a:pPr>
            <a:r>
              <a:rPr lang="en-US" sz="950" dirty="0">
                <a:solidFill>
                  <a:srgbClr val="5B6B79"/>
                </a:solidFill>
                <a:latin typeface="Calibri" pitchFamily="34" charset="0"/>
                <a:ea typeface="Calibri" pitchFamily="34" charset="-122"/>
                <a:cs typeface="Calibri" pitchFamily="34" charset="-120"/>
              </a:rPr>
              <a:t>sources · chunks · claims · evidence</a:t>
            </a:r>
            <a:endParaRPr lang="en-US" sz="950" dirty="0"/>
          </a:p>
        </p:txBody>
      </p:sp>
      <p:sp>
        <p:nvSpPr>
          <p:cNvPr id="15" name="Shape 13"/>
          <p:cNvSpPr/>
          <p:nvPr/>
        </p:nvSpPr>
        <p:spPr>
          <a:xfrm>
            <a:off x="7726680" y="2651760"/>
            <a:ext cx="0" cy="457200"/>
          </a:xfrm>
          <a:prstGeom prst="line">
            <a:avLst/>
          </a:prstGeom>
          <a:noFill/>
          <a:ln w="19050">
            <a:solidFill>
              <a:srgbClr val="9AA6B2"/>
            </a:solidFill>
            <a:prstDash val="solid"/>
            <a:tailEnd type="triangle"/>
          </a:ln>
        </p:spPr>
      </p:sp>
      <p:sp>
        <p:nvSpPr>
          <p:cNvPr id="16" name="Shape 14"/>
          <p:cNvSpPr/>
          <p:nvPr/>
        </p:nvSpPr>
        <p:spPr>
          <a:xfrm>
            <a:off x="6400800" y="3108960"/>
            <a:ext cx="2651760" cy="777240"/>
          </a:xfrm>
          <a:prstGeom prst="roundRect">
            <a:avLst>
              <a:gd name="adj" fmla="val 9412"/>
            </a:avLst>
          </a:prstGeom>
          <a:solidFill>
            <a:srgbClr val="E4EFF3"/>
          </a:solidFill>
          <a:ln w="15875">
            <a:solidFill>
              <a:srgbClr val="1C7293"/>
            </a:solidFill>
            <a:prstDash val="solid"/>
          </a:ln>
        </p:spPr>
      </p:sp>
      <p:sp>
        <p:nvSpPr>
          <p:cNvPr id="17" name="Text 15"/>
          <p:cNvSpPr txBox="1"/>
          <p:nvPr/>
        </p:nvSpPr>
        <p:spPr>
          <a:xfrm>
            <a:off x="6510528" y="3182112"/>
            <a:ext cx="2432304" cy="320040"/>
          </a:xfrm>
          <a:prstGeom prst="rect">
            <a:avLst/>
          </a:prstGeom>
          <a:noFill/>
          <a:ln/>
        </p:spPr>
        <p:txBody>
          <a:bodyPr wrap="square" lIns="0" tIns="0" rIns="0" bIns="0" rtlCol="0" anchor="ctr"/>
          <a:lstStyle/>
          <a:p>
            <a:pPr indent="0" marL="0">
              <a:buNone/>
            </a:pPr>
            <a:r>
              <a:rPr lang="en-US" sz="1250" b="1" dirty="0">
                <a:solidFill>
                  <a:srgbClr val="17202B"/>
                </a:solidFill>
                <a:latin typeface="Calibri" pitchFamily="34" charset="0"/>
                <a:ea typeface="Calibri" pitchFamily="34" charset="-122"/>
                <a:cs typeface="Calibri" pitchFamily="34" charset="-120"/>
              </a:rPr>
              <a:t>Hybrid retrieval</a:t>
            </a:r>
            <a:endParaRPr lang="en-US" sz="1250" dirty="0"/>
          </a:p>
        </p:txBody>
      </p:sp>
      <p:sp>
        <p:nvSpPr>
          <p:cNvPr id="18" name="Text 16"/>
          <p:cNvSpPr txBox="1"/>
          <p:nvPr/>
        </p:nvSpPr>
        <p:spPr>
          <a:xfrm>
            <a:off x="6510528" y="3474720"/>
            <a:ext cx="2432304" cy="320040"/>
          </a:xfrm>
          <a:prstGeom prst="rect">
            <a:avLst/>
          </a:prstGeom>
          <a:noFill/>
          <a:ln/>
        </p:spPr>
        <p:txBody>
          <a:bodyPr wrap="square" lIns="0" tIns="0" rIns="0" bIns="0" rtlCol="0" anchor="ctr"/>
          <a:lstStyle/>
          <a:p>
            <a:pPr indent="0" marL="0">
              <a:buNone/>
            </a:pPr>
            <a:r>
              <a:rPr lang="en-US" sz="950" dirty="0">
                <a:solidFill>
                  <a:srgbClr val="5B6B79"/>
                </a:solidFill>
                <a:latin typeface="Calibri" pitchFamily="34" charset="0"/>
                <a:ea typeface="Calibri" pitchFamily="34" charset="-122"/>
                <a:cs typeface="Calibri" pitchFamily="34" charset="-120"/>
              </a:rPr>
              <a:t>full-text + vector, ranked, top 5–8</a:t>
            </a:r>
            <a:endParaRPr lang="en-US" sz="950" dirty="0"/>
          </a:p>
        </p:txBody>
      </p:sp>
      <p:sp>
        <p:nvSpPr>
          <p:cNvPr id="19" name="Shape 17"/>
          <p:cNvSpPr/>
          <p:nvPr/>
        </p:nvSpPr>
        <p:spPr>
          <a:xfrm>
            <a:off x="6400800" y="3493008"/>
            <a:ext cx="-2880360" cy="0"/>
          </a:xfrm>
          <a:prstGeom prst="line">
            <a:avLst/>
          </a:prstGeom>
          <a:noFill/>
          <a:ln w="19050">
            <a:solidFill>
              <a:srgbClr val="9AA6B2"/>
            </a:solidFill>
            <a:prstDash val="solid"/>
            <a:tailEnd type="triangle"/>
          </a:ln>
        </p:spPr>
      </p:sp>
      <p:sp>
        <p:nvSpPr>
          <p:cNvPr id="20" name="Shape 18"/>
          <p:cNvSpPr/>
          <p:nvPr/>
        </p:nvSpPr>
        <p:spPr>
          <a:xfrm>
            <a:off x="548640" y="3108960"/>
            <a:ext cx="2971800" cy="777240"/>
          </a:xfrm>
          <a:prstGeom prst="roundRect">
            <a:avLst>
              <a:gd name="adj" fmla="val 9412"/>
            </a:avLst>
          </a:prstGeom>
          <a:solidFill>
            <a:srgbClr val="E5F3EB"/>
          </a:solidFill>
          <a:ln w="15875">
            <a:solidFill>
              <a:srgbClr val="1B8A5A"/>
            </a:solidFill>
            <a:prstDash val="solid"/>
          </a:ln>
        </p:spPr>
      </p:sp>
      <p:sp>
        <p:nvSpPr>
          <p:cNvPr id="21" name="Text 19"/>
          <p:cNvSpPr txBox="1"/>
          <p:nvPr/>
        </p:nvSpPr>
        <p:spPr>
          <a:xfrm>
            <a:off x="658368" y="3182112"/>
            <a:ext cx="2752344" cy="320040"/>
          </a:xfrm>
          <a:prstGeom prst="rect">
            <a:avLst/>
          </a:prstGeom>
          <a:noFill/>
          <a:ln/>
        </p:spPr>
        <p:txBody>
          <a:bodyPr wrap="square" lIns="0" tIns="0" rIns="0" bIns="0" rtlCol="0" anchor="ctr"/>
          <a:lstStyle/>
          <a:p>
            <a:pPr indent="0" marL="0">
              <a:buNone/>
            </a:pPr>
            <a:r>
              <a:rPr lang="en-US" sz="1250" b="1" dirty="0">
                <a:solidFill>
                  <a:srgbClr val="17202B"/>
                </a:solidFill>
                <a:latin typeface="Calibri" pitchFamily="34" charset="0"/>
                <a:ea typeface="Calibri" pitchFamily="34" charset="-122"/>
                <a:cs typeface="Calibri" pitchFamily="34" charset="-120"/>
              </a:rPr>
              <a:t>Chat agent</a:t>
            </a:r>
            <a:endParaRPr lang="en-US" sz="1250" dirty="0"/>
          </a:p>
        </p:txBody>
      </p:sp>
      <p:sp>
        <p:nvSpPr>
          <p:cNvPr id="22" name="Text 20"/>
          <p:cNvSpPr txBox="1"/>
          <p:nvPr/>
        </p:nvSpPr>
        <p:spPr>
          <a:xfrm>
            <a:off x="658368" y="3474720"/>
            <a:ext cx="2752344" cy="320040"/>
          </a:xfrm>
          <a:prstGeom prst="rect">
            <a:avLst/>
          </a:prstGeom>
          <a:noFill/>
          <a:ln/>
        </p:spPr>
        <p:txBody>
          <a:bodyPr wrap="square" lIns="0" tIns="0" rIns="0" bIns="0" rtlCol="0" anchor="ctr"/>
          <a:lstStyle/>
          <a:p>
            <a:pPr indent="0" marL="0">
              <a:buNone/>
            </a:pPr>
            <a:r>
              <a:rPr lang="en-US" sz="950" dirty="0">
                <a:solidFill>
                  <a:srgbClr val="5B6B79"/>
                </a:solidFill>
                <a:latin typeface="Calibri" pitchFamily="34" charset="0"/>
                <a:ea typeface="Calibri" pitchFamily="34" charset="-122"/>
                <a:cs typeface="Calibri" pitchFamily="34" charset="-120"/>
              </a:rPr>
              <a:t>AI SDK tool loop, stopWhen(5 steps)</a:t>
            </a:r>
            <a:endParaRPr lang="en-US" sz="950" dirty="0"/>
          </a:p>
        </p:txBody>
      </p:sp>
      <p:sp>
        <p:nvSpPr>
          <p:cNvPr id="23" name="Shape 21"/>
          <p:cNvSpPr/>
          <p:nvPr/>
        </p:nvSpPr>
        <p:spPr>
          <a:xfrm>
            <a:off x="2011680" y="3886200"/>
            <a:ext cx="0" cy="457200"/>
          </a:xfrm>
          <a:prstGeom prst="line">
            <a:avLst/>
          </a:prstGeom>
          <a:noFill/>
          <a:ln w="19050">
            <a:solidFill>
              <a:srgbClr val="9AA6B2"/>
            </a:solidFill>
            <a:prstDash val="solid"/>
            <a:tailEnd type="triangle"/>
          </a:ln>
        </p:spPr>
      </p:sp>
      <p:sp>
        <p:nvSpPr>
          <p:cNvPr id="24" name="Shape 22"/>
          <p:cNvSpPr/>
          <p:nvPr/>
        </p:nvSpPr>
        <p:spPr>
          <a:xfrm>
            <a:off x="548640" y="4343400"/>
            <a:ext cx="2971800" cy="777240"/>
          </a:xfrm>
          <a:prstGeom prst="roundRect">
            <a:avLst>
              <a:gd name="adj" fmla="val 9412"/>
            </a:avLst>
          </a:prstGeom>
          <a:solidFill>
            <a:srgbClr val="FBE7E4"/>
          </a:solidFill>
          <a:ln w="15875">
            <a:solidFill>
              <a:srgbClr val="C0392B"/>
            </a:solidFill>
            <a:prstDash val="solid"/>
          </a:ln>
        </p:spPr>
      </p:sp>
      <p:sp>
        <p:nvSpPr>
          <p:cNvPr id="25" name="Text 23"/>
          <p:cNvSpPr txBox="1"/>
          <p:nvPr/>
        </p:nvSpPr>
        <p:spPr>
          <a:xfrm>
            <a:off x="658368" y="4416552"/>
            <a:ext cx="2752344" cy="320040"/>
          </a:xfrm>
          <a:prstGeom prst="rect">
            <a:avLst/>
          </a:prstGeom>
          <a:noFill/>
          <a:ln/>
        </p:spPr>
        <p:txBody>
          <a:bodyPr wrap="square" lIns="0" tIns="0" rIns="0" bIns="0" rtlCol="0" anchor="ctr"/>
          <a:lstStyle/>
          <a:p>
            <a:pPr indent="0" marL="0">
              <a:buNone/>
            </a:pPr>
            <a:r>
              <a:rPr lang="en-US" sz="1250" b="1" dirty="0">
                <a:solidFill>
                  <a:srgbClr val="17202B"/>
                </a:solidFill>
                <a:latin typeface="Calibri" pitchFamily="34" charset="0"/>
                <a:ea typeface="Calibri" pitchFamily="34" charset="-122"/>
                <a:cs typeface="Calibri" pitchFamily="34" charset="-120"/>
              </a:rPr>
              <a:t>Claim / conflict engine</a:t>
            </a:r>
            <a:endParaRPr lang="en-US" sz="1250" dirty="0"/>
          </a:p>
        </p:txBody>
      </p:sp>
      <p:sp>
        <p:nvSpPr>
          <p:cNvPr id="26" name="Text 24"/>
          <p:cNvSpPr txBox="1"/>
          <p:nvPr/>
        </p:nvSpPr>
        <p:spPr>
          <a:xfrm>
            <a:off x="658368" y="4709160"/>
            <a:ext cx="2752344" cy="320040"/>
          </a:xfrm>
          <a:prstGeom prst="rect">
            <a:avLst/>
          </a:prstGeom>
          <a:noFill/>
          <a:ln/>
        </p:spPr>
        <p:txBody>
          <a:bodyPr wrap="square" lIns="0" tIns="0" rIns="0" bIns="0" rtlCol="0" anchor="ctr"/>
          <a:lstStyle/>
          <a:p>
            <a:pPr indent="0" marL="0">
              <a:buNone/>
            </a:pPr>
            <a:r>
              <a:rPr lang="en-US" sz="950" dirty="0">
                <a:solidFill>
                  <a:srgbClr val="5B6B79"/>
                </a:solidFill>
                <a:latin typeface="Calibri" pitchFamily="34" charset="0"/>
                <a:ea typeface="Calibri" pitchFamily="34" charset="-122"/>
                <a:cs typeface="Calibri" pitchFamily="34" charset="-120"/>
              </a:rPr>
              <a:t>verified · partial · conflict · unknown</a:t>
            </a:r>
            <a:endParaRPr lang="en-US" sz="950" dirty="0"/>
          </a:p>
        </p:txBody>
      </p:sp>
      <p:sp>
        <p:nvSpPr>
          <p:cNvPr id="27" name="Shape 25"/>
          <p:cNvSpPr/>
          <p:nvPr/>
        </p:nvSpPr>
        <p:spPr>
          <a:xfrm>
            <a:off x="3520440" y="4727448"/>
            <a:ext cx="594360" cy="0"/>
          </a:xfrm>
          <a:prstGeom prst="line">
            <a:avLst/>
          </a:prstGeom>
          <a:noFill/>
          <a:ln w="19050">
            <a:solidFill>
              <a:srgbClr val="9AA6B2"/>
            </a:solidFill>
            <a:prstDash val="solid"/>
            <a:tailEnd type="triangle"/>
          </a:ln>
        </p:spPr>
      </p:sp>
      <p:sp>
        <p:nvSpPr>
          <p:cNvPr id="28" name="Shape 26"/>
          <p:cNvSpPr/>
          <p:nvPr/>
        </p:nvSpPr>
        <p:spPr>
          <a:xfrm>
            <a:off x="4114800" y="4343400"/>
            <a:ext cx="2286000" cy="777240"/>
          </a:xfrm>
          <a:prstGeom prst="roundRect">
            <a:avLst>
              <a:gd name="adj" fmla="val 9412"/>
            </a:avLst>
          </a:prstGeom>
          <a:solidFill>
            <a:srgbClr val="DCE3EC"/>
          </a:solidFill>
          <a:ln w="15875">
            <a:solidFill>
              <a:srgbClr val="121826"/>
            </a:solidFill>
            <a:prstDash val="solid"/>
          </a:ln>
        </p:spPr>
      </p:sp>
      <p:sp>
        <p:nvSpPr>
          <p:cNvPr id="29" name="Text 27"/>
          <p:cNvSpPr txBox="1"/>
          <p:nvPr/>
        </p:nvSpPr>
        <p:spPr>
          <a:xfrm>
            <a:off x="4224528" y="4416552"/>
            <a:ext cx="2066544" cy="320040"/>
          </a:xfrm>
          <a:prstGeom prst="rect">
            <a:avLst/>
          </a:prstGeom>
          <a:noFill/>
          <a:ln/>
        </p:spPr>
        <p:txBody>
          <a:bodyPr wrap="square" lIns="0" tIns="0" rIns="0" bIns="0" rtlCol="0" anchor="ctr"/>
          <a:lstStyle/>
          <a:p>
            <a:pPr indent="0" marL="0">
              <a:buNone/>
            </a:pPr>
            <a:r>
              <a:rPr lang="en-US" sz="1250" b="1" dirty="0">
                <a:solidFill>
                  <a:srgbClr val="17202B"/>
                </a:solidFill>
                <a:latin typeface="Calibri" pitchFamily="34" charset="0"/>
                <a:ea typeface="Calibri" pitchFamily="34" charset="-122"/>
                <a:cs typeface="Calibri" pitchFamily="34" charset="-120"/>
              </a:rPr>
              <a:t>Security profile</a:t>
            </a:r>
            <a:endParaRPr lang="en-US" sz="1250" dirty="0"/>
          </a:p>
        </p:txBody>
      </p:sp>
      <p:sp>
        <p:nvSpPr>
          <p:cNvPr id="30" name="Text 28"/>
          <p:cNvSpPr txBox="1"/>
          <p:nvPr/>
        </p:nvSpPr>
        <p:spPr>
          <a:xfrm>
            <a:off x="4224528" y="4709160"/>
            <a:ext cx="2066544" cy="320040"/>
          </a:xfrm>
          <a:prstGeom prst="rect">
            <a:avLst/>
          </a:prstGeom>
          <a:noFill/>
          <a:ln/>
        </p:spPr>
        <p:txBody>
          <a:bodyPr wrap="square" lIns="0" tIns="0" rIns="0" bIns="0" rtlCol="0" anchor="ctr"/>
          <a:lstStyle/>
          <a:p>
            <a:pPr indent="0" marL="0">
              <a:buNone/>
            </a:pPr>
            <a:r>
              <a:rPr lang="en-US" sz="950" dirty="0">
                <a:solidFill>
                  <a:srgbClr val="5B6B79"/>
                </a:solidFill>
                <a:latin typeface="Calibri" pitchFamily="34" charset="0"/>
                <a:ea typeface="Calibri" pitchFamily="34" charset="-122"/>
                <a:cs typeface="Calibri" pitchFamily="34" charset="-120"/>
              </a:rPr>
              <a:t>persisted per workspace</a:t>
            </a:r>
            <a:endParaRPr lang="en-US" sz="950" dirty="0"/>
          </a:p>
        </p:txBody>
      </p:sp>
      <p:sp>
        <p:nvSpPr>
          <p:cNvPr id="31" name="Shape 29"/>
          <p:cNvSpPr/>
          <p:nvPr/>
        </p:nvSpPr>
        <p:spPr>
          <a:xfrm>
            <a:off x="6400800" y="4727448"/>
            <a:ext cx="594360" cy="0"/>
          </a:xfrm>
          <a:prstGeom prst="line">
            <a:avLst/>
          </a:prstGeom>
          <a:noFill/>
          <a:ln w="19050">
            <a:solidFill>
              <a:srgbClr val="9AA6B2"/>
            </a:solidFill>
            <a:prstDash val="solid"/>
            <a:tailEnd type="triangle"/>
          </a:ln>
        </p:spPr>
      </p:sp>
      <p:sp>
        <p:nvSpPr>
          <p:cNvPr id="32" name="Shape 30"/>
          <p:cNvSpPr/>
          <p:nvPr/>
        </p:nvSpPr>
        <p:spPr>
          <a:xfrm>
            <a:off x="6995160" y="4343400"/>
            <a:ext cx="3017520" cy="777240"/>
          </a:xfrm>
          <a:prstGeom prst="roundRect">
            <a:avLst>
              <a:gd name="adj" fmla="val 9412"/>
            </a:avLst>
          </a:prstGeom>
          <a:solidFill>
            <a:srgbClr val="E5F3EB"/>
          </a:solidFill>
          <a:ln w="15875">
            <a:solidFill>
              <a:srgbClr val="1B8A5A"/>
            </a:solidFill>
            <a:prstDash val="solid"/>
          </a:ln>
        </p:spPr>
      </p:sp>
      <p:sp>
        <p:nvSpPr>
          <p:cNvPr id="33" name="Text 31"/>
          <p:cNvSpPr txBox="1"/>
          <p:nvPr/>
        </p:nvSpPr>
        <p:spPr>
          <a:xfrm>
            <a:off x="7104888" y="4416552"/>
            <a:ext cx="2798064" cy="320040"/>
          </a:xfrm>
          <a:prstGeom prst="rect">
            <a:avLst/>
          </a:prstGeom>
          <a:noFill/>
          <a:ln/>
        </p:spPr>
        <p:txBody>
          <a:bodyPr wrap="square" lIns="0" tIns="0" rIns="0" bIns="0" rtlCol="0" anchor="ctr"/>
          <a:lstStyle/>
          <a:p>
            <a:pPr indent="0" marL="0">
              <a:buNone/>
            </a:pPr>
            <a:r>
              <a:rPr lang="en-US" sz="1250" b="1" dirty="0">
                <a:solidFill>
                  <a:srgbClr val="17202B"/>
                </a:solidFill>
                <a:latin typeface="Calibri" pitchFamily="34" charset="0"/>
                <a:ea typeface="Calibri" pitchFamily="34" charset="-122"/>
                <a:cs typeface="Calibri" pitchFamily="34" charset="-120"/>
              </a:rPr>
              <a:t>Questionnaire dashboard / export</a:t>
            </a:r>
            <a:endParaRPr lang="en-US" sz="1250" dirty="0"/>
          </a:p>
        </p:txBody>
      </p:sp>
      <p:sp>
        <p:nvSpPr>
          <p:cNvPr id="34" name="Text 32"/>
          <p:cNvSpPr txBox="1"/>
          <p:nvPr/>
        </p:nvSpPr>
        <p:spPr>
          <a:xfrm>
            <a:off x="7104888" y="4709160"/>
            <a:ext cx="2798064" cy="320040"/>
          </a:xfrm>
          <a:prstGeom prst="rect">
            <a:avLst/>
          </a:prstGeom>
          <a:noFill/>
          <a:ln/>
        </p:spPr>
        <p:txBody>
          <a:bodyPr wrap="square" lIns="0" tIns="0" rIns="0" bIns="0" rtlCol="0" anchor="ctr"/>
          <a:lstStyle/>
          <a:p>
            <a:pPr indent="0" marL="0">
              <a:buNone/>
            </a:pPr>
            <a:r>
              <a:rPr lang="en-US" sz="950" dirty="0">
                <a:solidFill>
                  <a:srgbClr val="5B6B79"/>
                </a:solidFill>
                <a:latin typeface="Calibri" pitchFamily="34" charset="0"/>
                <a:ea typeface="Calibri" pitchFamily="34" charset="-122"/>
                <a:cs typeface="Calibri" pitchFamily="34" charset="-120"/>
              </a:rPr>
              <a:t>the completed answer set</a:t>
            </a:r>
            <a:endParaRPr lang="en-US" sz="950" dirty="0"/>
          </a:p>
        </p:txBody>
      </p:sp>
      <p:sp>
        <p:nvSpPr>
          <p:cNvPr id="35" name="Shape 33"/>
          <p:cNvSpPr/>
          <p:nvPr/>
        </p:nvSpPr>
        <p:spPr>
          <a:xfrm>
            <a:off x="2011680" y="5120640"/>
            <a:ext cx="0" cy="502920"/>
          </a:xfrm>
          <a:prstGeom prst="line">
            <a:avLst/>
          </a:prstGeom>
          <a:noFill/>
          <a:ln w="19050">
            <a:solidFill>
              <a:srgbClr val="9AA6B2"/>
            </a:solidFill>
            <a:prstDash val="solid"/>
            <a:tailEnd type="triangle"/>
          </a:ln>
        </p:spPr>
      </p:sp>
      <p:sp>
        <p:nvSpPr>
          <p:cNvPr id="36" name="Text 34"/>
          <p:cNvSpPr txBox="1"/>
          <p:nvPr/>
        </p:nvSpPr>
        <p:spPr>
          <a:xfrm>
            <a:off x="548640" y="5669280"/>
            <a:ext cx="6400800" cy="365760"/>
          </a:xfrm>
          <a:prstGeom prst="rect">
            <a:avLst/>
          </a:prstGeom>
          <a:noFill/>
          <a:ln/>
        </p:spPr>
        <p:txBody>
          <a:bodyPr wrap="square" lIns="0" tIns="0" rIns="0" bIns="0" rtlCol="0" anchor="ctr"/>
          <a:lstStyle/>
          <a:p>
            <a:pPr indent="0" marL="0">
              <a:buNone/>
            </a:pPr>
            <a:r>
              <a:rPr lang="en-US" sz="1100" i="1" dirty="0">
                <a:solidFill>
                  <a:srgbClr val="5B6B79"/>
                </a:solidFill>
                <a:latin typeface="Calibri" pitchFamily="34" charset="0"/>
                <a:ea typeface="Calibri" pitchFamily="34" charset="-122"/>
                <a:cs typeface="Calibri" pitchFamily="34" charset="-120"/>
              </a:rPr>
              <a:t>Conflict found → agent asks one targeted follow-up question</a:t>
            </a:r>
            <a:endParaRPr lang="en-US" sz="1100" dirty="0"/>
          </a:p>
        </p:txBody>
      </p:sp>
      <p:sp>
        <p:nvSpPr>
          <p:cNvPr id="37" name="Text 35"/>
          <p:cNvSpPr txBox="1"/>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B7C0C9"/>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TECH STACK</a:t>
            </a:r>
            <a:endParaRPr lang="en-US" sz="1200" dirty="0"/>
          </a:p>
        </p:txBody>
      </p:sp>
      <p:sp>
        <p:nvSpPr>
          <p:cNvPr id="3" name="Text 1"/>
          <p:cNvSpPr txBox="1"/>
          <p:nvPr/>
        </p:nvSpPr>
        <p:spPr>
          <a:xfrm>
            <a:off x="548640" y="713232"/>
            <a:ext cx="11091672" cy="822960"/>
          </a:xfrm>
          <a:prstGeom prst="rect">
            <a:avLst/>
          </a:prstGeom>
          <a:noFill/>
          <a:ln/>
        </p:spPr>
        <p:txBody>
          <a:bodyPr wrap="square" lIns="0" tIns="0" rIns="0" bIns="0" rtlCol="0" anchor="ctr"/>
          <a:lstStyle/>
          <a:p>
            <a:pPr indent="0" marL="0">
              <a:buNone/>
            </a:pPr>
            <a:r>
              <a:rPr lang="en-US" sz="3000" b="1" dirty="0">
                <a:solidFill>
                  <a:srgbClr val="17202B"/>
                </a:solidFill>
                <a:latin typeface="Cambria" pitchFamily="34" charset="0"/>
                <a:ea typeface="Cambria" pitchFamily="34" charset="-122"/>
                <a:cs typeface="Cambria" pitchFamily="34" charset="-120"/>
              </a:rPr>
              <a:t>Deliberately small, deliberately boring where it should be</a:t>
            </a:r>
            <a:endParaRPr lang="en-US" sz="3000" dirty="0"/>
          </a:p>
        </p:txBody>
      </p:sp>
      <p:sp>
        <p:nvSpPr>
          <p:cNvPr id="4" name="Shape 2"/>
          <p:cNvSpPr/>
          <p:nvPr/>
        </p:nvSpPr>
        <p:spPr>
          <a:xfrm>
            <a:off x="548640" y="1783080"/>
            <a:ext cx="566928" cy="566928"/>
          </a:xfrm>
          <a:prstGeom prst="ellipse">
            <a:avLst/>
          </a:prstGeom>
          <a:solidFill>
            <a:srgbClr val="CADCFC"/>
          </a:solidFill>
          <a:ln w="12700">
            <a:solidFill>
              <a:srgbClr val="CADCFC"/>
            </a:solidFill>
            <a:prstDash val="solid"/>
          </a:ln>
        </p:spPr>
      </p:sp>
      <p:pic>
        <p:nvPicPr>
          <p:cNvPr id="5" name="Image 0" descr="/tmp/claude-0/-home-claude/4d7af575-a239-5aaf-bcca-b53c3061710f/scratchpad/icons/layers-navy.png">    </p:cNvPr>
          <p:cNvPicPr>
            <a:picLocks noChangeAspect="1"/>
          </p:cNvPicPr>
          <p:nvPr/>
        </p:nvPicPr>
        <p:blipFill>
          <a:blip r:embed="rId1"/>
          <a:stretch>
            <a:fillRect/>
          </a:stretch>
        </p:blipFill>
        <p:spPr>
          <a:xfrm>
            <a:off x="696041" y="1930481"/>
            <a:ext cx="272125" cy="272125"/>
          </a:xfrm>
          <a:prstGeom prst="rect">
            <a:avLst/>
          </a:prstGeom>
        </p:spPr>
      </p:pic>
      <p:sp>
        <p:nvSpPr>
          <p:cNvPr id="6" name="Text 3"/>
          <p:cNvSpPr txBox="1"/>
          <p:nvPr/>
        </p:nvSpPr>
        <p:spPr>
          <a:xfrm>
            <a:off x="1325880" y="1764792"/>
            <a:ext cx="9875520" cy="365760"/>
          </a:xfrm>
          <a:prstGeom prst="rect">
            <a:avLst/>
          </a:prstGeom>
          <a:noFill/>
          <a:ln/>
        </p:spPr>
        <p:txBody>
          <a:bodyPr wrap="square" lIns="0" tIns="0" rIns="0" bIns="0" rtlCol="0" anchor="ctr"/>
          <a:lstStyle/>
          <a:p>
            <a:pPr indent="0" marL="0">
              <a:buNone/>
            </a:pPr>
            <a:r>
              <a:rPr lang="en-US" sz="1600" b="1" dirty="0">
                <a:solidFill>
                  <a:srgbClr val="17202B"/>
                </a:solidFill>
                <a:latin typeface="Calibri" pitchFamily="34" charset="0"/>
                <a:ea typeface="Calibri" pitchFamily="34" charset="-122"/>
                <a:cs typeface="Calibri" pitchFamily="34" charset="-120"/>
              </a:rPr>
              <a:t>Next.js 16 + Vercel AI SDK</a:t>
            </a:r>
            <a:endParaRPr lang="en-US" sz="1600" dirty="0"/>
          </a:p>
        </p:txBody>
      </p:sp>
      <p:sp>
        <p:nvSpPr>
          <p:cNvPr id="7" name="Text 4"/>
          <p:cNvSpPr txBox="1"/>
          <p:nvPr/>
        </p:nvSpPr>
        <p:spPr>
          <a:xfrm>
            <a:off x="1325880" y="2148840"/>
            <a:ext cx="9875520" cy="457200"/>
          </a:xfrm>
          <a:prstGeom prst="rect">
            <a:avLst/>
          </a:prstGeom>
          <a:noFill/>
          <a:ln/>
        </p:spPr>
        <p:txBody>
          <a:bodyPr wrap="square" lIns="0" tIns="0" rIns="0" bIns="0" rtlCol="0" anchor="ctr"/>
          <a:lstStyle/>
          <a:p>
            <a:pPr indent="0" marL="0">
              <a:buNone/>
            </a:pPr>
            <a:r>
              <a:rPr lang="en-US" sz="1250" dirty="0">
                <a:solidFill>
                  <a:srgbClr val="5B6B79"/>
                </a:solidFill>
                <a:latin typeface="Calibri" pitchFamily="34" charset="0"/>
                <a:ea typeface="Calibri" pitchFamily="34" charset="-122"/>
                <a:cs typeface="Calibri" pitchFamily="34" charset="-120"/>
              </a:rPr>
              <a:t>Streaming chat UI and a bounded tool-calling agent loop, forked from the Vercel AI Chatbot template.</a:t>
            </a:r>
            <a:endParaRPr lang="en-US" sz="1250" dirty="0"/>
          </a:p>
        </p:txBody>
      </p:sp>
      <p:sp>
        <p:nvSpPr>
          <p:cNvPr id="8" name="Shape 5"/>
          <p:cNvSpPr/>
          <p:nvPr/>
        </p:nvSpPr>
        <p:spPr>
          <a:xfrm>
            <a:off x="548640" y="2834640"/>
            <a:ext cx="566928" cy="566928"/>
          </a:xfrm>
          <a:prstGeom prst="ellipse">
            <a:avLst/>
          </a:prstGeom>
          <a:solidFill>
            <a:srgbClr val="CADCFC"/>
          </a:solidFill>
          <a:ln w="12700">
            <a:solidFill>
              <a:srgbClr val="CADCFC"/>
            </a:solidFill>
            <a:prstDash val="solid"/>
          </a:ln>
        </p:spPr>
      </p:sp>
      <p:pic>
        <p:nvPicPr>
          <p:cNvPr id="9" name="Image 1" descr="/tmp/claude-0/-home-claude/4d7af575-a239-5aaf-bcca-b53c3061710f/scratchpad/icons/database-navy.png">    </p:cNvPr>
          <p:cNvPicPr>
            <a:picLocks noChangeAspect="1"/>
          </p:cNvPicPr>
          <p:nvPr/>
        </p:nvPicPr>
        <p:blipFill>
          <a:blip r:embed="rId2"/>
          <a:stretch>
            <a:fillRect/>
          </a:stretch>
        </p:blipFill>
        <p:spPr>
          <a:xfrm>
            <a:off x="696041" y="2982041"/>
            <a:ext cx="272125" cy="272125"/>
          </a:xfrm>
          <a:prstGeom prst="rect">
            <a:avLst/>
          </a:prstGeom>
        </p:spPr>
      </p:pic>
      <p:sp>
        <p:nvSpPr>
          <p:cNvPr id="10" name="Text 6"/>
          <p:cNvSpPr txBox="1"/>
          <p:nvPr/>
        </p:nvSpPr>
        <p:spPr>
          <a:xfrm>
            <a:off x="1325880" y="2816352"/>
            <a:ext cx="9875520" cy="365760"/>
          </a:xfrm>
          <a:prstGeom prst="rect">
            <a:avLst/>
          </a:prstGeom>
          <a:noFill/>
          <a:ln/>
        </p:spPr>
        <p:txBody>
          <a:bodyPr wrap="square" lIns="0" tIns="0" rIns="0" bIns="0" rtlCol="0" anchor="ctr"/>
          <a:lstStyle/>
          <a:p>
            <a:pPr indent="0" marL="0">
              <a:buNone/>
            </a:pPr>
            <a:r>
              <a:rPr lang="en-US" sz="1600" b="1" dirty="0">
                <a:solidFill>
                  <a:srgbClr val="17202B"/>
                </a:solidFill>
                <a:latin typeface="Calibri" pitchFamily="34" charset="0"/>
                <a:ea typeface="Calibri" pitchFamily="34" charset="-122"/>
                <a:cs typeface="Calibri" pitchFamily="34" charset="-120"/>
              </a:rPr>
              <a:t>PostgreSQL + pgvector</a:t>
            </a:r>
            <a:endParaRPr lang="en-US" sz="1600" dirty="0"/>
          </a:p>
        </p:txBody>
      </p:sp>
      <p:sp>
        <p:nvSpPr>
          <p:cNvPr id="11" name="Text 7"/>
          <p:cNvSpPr txBox="1"/>
          <p:nvPr/>
        </p:nvSpPr>
        <p:spPr>
          <a:xfrm>
            <a:off x="1325880" y="3200400"/>
            <a:ext cx="9875520" cy="457200"/>
          </a:xfrm>
          <a:prstGeom prst="rect">
            <a:avLst/>
          </a:prstGeom>
          <a:noFill/>
          <a:ln/>
        </p:spPr>
        <p:txBody>
          <a:bodyPr wrap="square" lIns="0" tIns="0" rIns="0" bIns="0" rtlCol="0" anchor="ctr"/>
          <a:lstStyle/>
          <a:p>
            <a:pPr indent="0" marL="0">
              <a:buNone/>
            </a:pPr>
            <a:r>
              <a:rPr lang="en-US" sz="1250" dirty="0">
                <a:solidFill>
                  <a:srgbClr val="5B6B79"/>
                </a:solidFill>
                <a:latin typeface="Calibri" pitchFamily="34" charset="0"/>
                <a:ea typeface="Calibri" pitchFamily="34" charset="-122"/>
                <a:cs typeface="Calibri" pitchFamily="34" charset="-120"/>
              </a:rPr>
              <a:t>One database for structured claims and vector search. Hybrid full-text plus cosine similarity.</a:t>
            </a:r>
            <a:endParaRPr lang="en-US" sz="1250" dirty="0"/>
          </a:p>
        </p:txBody>
      </p:sp>
      <p:sp>
        <p:nvSpPr>
          <p:cNvPr id="12" name="Shape 8"/>
          <p:cNvSpPr/>
          <p:nvPr/>
        </p:nvSpPr>
        <p:spPr>
          <a:xfrm>
            <a:off x="548640" y="3886200"/>
            <a:ext cx="566928" cy="566928"/>
          </a:xfrm>
          <a:prstGeom prst="ellipse">
            <a:avLst/>
          </a:prstGeom>
          <a:solidFill>
            <a:srgbClr val="CADCFC"/>
          </a:solidFill>
          <a:ln w="12700">
            <a:solidFill>
              <a:srgbClr val="CADCFC"/>
            </a:solidFill>
            <a:prstDash val="solid"/>
          </a:ln>
        </p:spPr>
      </p:sp>
      <p:pic>
        <p:nvPicPr>
          <p:cNvPr id="13" name="Image 2" descr="/tmp/claude-0/-home-claude/4d7af575-a239-5aaf-bcca-b53c3061710f/scratchpad/icons/cloud-navy.png">    </p:cNvPr>
          <p:cNvPicPr>
            <a:picLocks noChangeAspect="1"/>
          </p:cNvPicPr>
          <p:nvPr/>
        </p:nvPicPr>
        <p:blipFill>
          <a:blip r:embed="rId3"/>
          <a:stretch>
            <a:fillRect/>
          </a:stretch>
        </p:blipFill>
        <p:spPr>
          <a:xfrm>
            <a:off x="696041" y="4033601"/>
            <a:ext cx="272125" cy="272125"/>
          </a:xfrm>
          <a:prstGeom prst="rect">
            <a:avLst/>
          </a:prstGeom>
        </p:spPr>
      </p:pic>
      <p:sp>
        <p:nvSpPr>
          <p:cNvPr id="14" name="Text 9"/>
          <p:cNvSpPr txBox="1"/>
          <p:nvPr/>
        </p:nvSpPr>
        <p:spPr>
          <a:xfrm>
            <a:off x="1325880" y="3867912"/>
            <a:ext cx="9875520" cy="365760"/>
          </a:xfrm>
          <a:prstGeom prst="rect">
            <a:avLst/>
          </a:prstGeom>
          <a:noFill/>
          <a:ln/>
        </p:spPr>
        <p:txBody>
          <a:bodyPr wrap="square" lIns="0" tIns="0" rIns="0" bIns="0" rtlCol="0" anchor="ctr"/>
          <a:lstStyle/>
          <a:p>
            <a:pPr indent="0" marL="0">
              <a:buNone/>
            </a:pPr>
            <a:r>
              <a:rPr lang="en-US" sz="1600" b="1" dirty="0">
                <a:solidFill>
                  <a:srgbClr val="17202B"/>
                </a:solidFill>
                <a:latin typeface="Calibri" pitchFamily="34" charset="0"/>
                <a:ea typeface="Calibri" pitchFamily="34" charset="-122"/>
                <a:cs typeface="Calibri" pitchFamily="34" charset="-120"/>
              </a:rPr>
              <a:t>Azure OpenAI, Gateway fallback</a:t>
            </a:r>
            <a:endParaRPr lang="en-US" sz="1600" dirty="0"/>
          </a:p>
        </p:txBody>
      </p:sp>
      <p:sp>
        <p:nvSpPr>
          <p:cNvPr id="15" name="Text 10"/>
          <p:cNvSpPr txBox="1"/>
          <p:nvPr/>
        </p:nvSpPr>
        <p:spPr>
          <a:xfrm>
            <a:off x="1325880" y="4251960"/>
            <a:ext cx="9875520" cy="457200"/>
          </a:xfrm>
          <a:prstGeom prst="rect">
            <a:avLst/>
          </a:prstGeom>
          <a:noFill/>
          <a:ln/>
        </p:spPr>
        <p:txBody>
          <a:bodyPr wrap="square" lIns="0" tIns="0" rIns="0" bIns="0" rtlCol="0" anchor="ctr"/>
          <a:lstStyle/>
          <a:p>
            <a:pPr indent="0" marL="0">
              <a:buNone/>
            </a:pPr>
            <a:r>
              <a:rPr lang="en-US" sz="1250" dirty="0">
                <a:solidFill>
                  <a:srgbClr val="5B6B79"/>
                </a:solidFill>
                <a:latin typeface="Calibri" pitchFamily="34" charset="0"/>
                <a:ea typeface="Calibri" pitchFamily="34" charset="-122"/>
                <a:cs typeface="Calibri" pitchFamily="34" charset="-120"/>
              </a:rPr>
              <a:t>Chat and embeddings on Azure when configured, the Vercel AI Gateway otherwise.</a:t>
            </a:r>
            <a:endParaRPr lang="en-US" sz="1250" dirty="0"/>
          </a:p>
        </p:txBody>
      </p:sp>
      <p:sp>
        <p:nvSpPr>
          <p:cNvPr id="16" name="Shape 11"/>
          <p:cNvSpPr/>
          <p:nvPr/>
        </p:nvSpPr>
        <p:spPr>
          <a:xfrm>
            <a:off x="548640" y="4937760"/>
            <a:ext cx="566928" cy="566928"/>
          </a:xfrm>
          <a:prstGeom prst="ellipse">
            <a:avLst/>
          </a:prstGeom>
          <a:solidFill>
            <a:srgbClr val="CADCFC"/>
          </a:solidFill>
          <a:ln w="12700">
            <a:solidFill>
              <a:srgbClr val="CADCFC"/>
            </a:solidFill>
            <a:prstDash val="solid"/>
          </a:ln>
        </p:spPr>
      </p:sp>
      <p:pic>
        <p:nvPicPr>
          <p:cNvPr id="17" name="Image 3" descr="/tmp/claude-0/-home-claude/4d7af575-a239-5aaf-bcca-b53c3061710f/scratchpad/icons/github-navy.png">    </p:cNvPr>
          <p:cNvPicPr>
            <a:picLocks noChangeAspect="1"/>
          </p:cNvPicPr>
          <p:nvPr/>
        </p:nvPicPr>
        <p:blipFill>
          <a:blip r:embed="rId4"/>
          <a:stretch>
            <a:fillRect/>
          </a:stretch>
        </p:blipFill>
        <p:spPr>
          <a:xfrm>
            <a:off x="696041" y="5085161"/>
            <a:ext cx="272125" cy="272125"/>
          </a:xfrm>
          <a:prstGeom prst="rect">
            <a:avLst/>
          </a:prstGeom>
        </p:spPr>
      </p:pic>
      <p:sp>
        <p:nvSpPr>
          <p:cNvPr id="18" name="Text 12"/>
          <p:cNvSpPr txBox="1"/>
          <p:nvPr/>
        </p:nvSpPr>
        <p:spPr>
          <a:xfrm>
            <a:off x="1325880" y="4919472"/>
            <a:ext cx="9875520" cy="365760"/>
          </a:xfrm>
          <a:prstGeom prst="rect">
            <a:avLst/>
          </a:prstGeom>
          <a:noFill/>
          <a:ln/>
        </p:spPr>
        <p:txBody>
          <a:bodyPr wrap="square" lIns="0" tIns="0" rIns="0" bIns="0" rtlCol="0" anchor="ctr"/>
          <a:lstStyle/>
          <a:p>
            <a:pPr indent="0" marL="0">
              <a:buNone/>
            </a:pPr>
            <a:r>
              <a:rPr lang="en-US" sz="1600" b="1" dirty="0">
                <a:solidFill>
                  <a:srgbClr val="17202B"/>
                </a:solidFill>
                <a:latin typeface="Calibri" pitchFamily="34" charset="0"/>
                <a:ea typeface="Calibri" pitchFamily="34" charset="-122"/>
                <a:cs typeface="Calibri" pitchFamily="34" charset="-120"/>
              </a:rPr>
              <a:t>Read-only connectors</a:t>
            </a:r>
            <a:endParaRPr lang="en-US" sz="1600" dirty="0"/>
          </a:p>
        </p:txBody>
      </p:sp>
      <p:sp>
        <p:nvSpPr>
          <p:cNvPr id="19" name="Text 13"/>
          <p:cNvSpPr txBox="1"/>
          <p:nvPr/>
        </p:nvSpPr>
        <p:spPr>
          <a:xfrm>
            <a:off x="1325880" y="5303520"/>
            <a:ext cx="9875520" cy="457200"/>
          </a:xfrm>
          <a:prstGeom prst="rect">
            <a:avLst/>
          </a:prstGeom>
          <a:noFill/>
          <a:ln/>
        </p:spPr>
        <p:txBody>
          <a:bodyPr wrap="square" lIns="0" tIns="0" rIns="0" bIns="0" rtlCol="0" anchor="ctr"/>
          <a:lstStyle/>
          <a:p>
            <a:pPr indent="0" marL="0">
              <a:buNone/>
            </a:pPr>
            <a:r>
              <a:rPr lang="en-US" sz="1250" dirty="0">
                <a:solidFill>
                  <a:srgbClr val="5B6B79"/>
                </a:solidFill>
                <a:latin typeface="Calibri" pitchFamily="34" charset="0"/>
                <a:ea typeface="Calibri" pitchFamily="34" charset="-122"/>
                <a:cs typeface="Calibri" pitchFamily="34" charset="-120"/>
              </a:rPr>
              <a:t>Company files, Slack, Google Drive (OAuth), and GitHub, each honestly reporting ready, demo, or needs_setup.</a:t>
            </a:r>
            <a:endParaRPr lang="en-US" sz="1250" dirty="0"/>
          </a:p>
        </p:txBody>
      </p:sp>
      <p:sp>
        <p:nvSpPr>
          <p:cNvPr id="20" name="Text 14"/>
          <p:cNvSpPr txBox="1"/>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B7C0C9"/>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1826"/>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200" b="1" spc="200" kern="0" dirty="0">
                <a:solidFill>
                  <a:srgbClr val="8FA6C9"/>
                </a:solidFill>
                <a:latin typeface="Calibri" pitchFamily="34" charset="0"/>
                <a:ea typeface="Calibri" pitchFamily="34" charset="-122"/>
                <a:cs typeface="Calibri" pitchFamily="34" charset="-120"/>
              </a:rPr>
              <a:t>LIVE DEMO</a:t>
            </a:r>
            <a:endParaRPr lang="en-US" sz="1200" dirty="0"/>
          </a:p>
        </p:txBody>
      </p:sp>
      <p:sp>
        <p:nvSpPr>
          <p:cNvPr id="3" name="Text 1"/>
          <p:cNvSpPr txBox="1"/>
          <p:nvPr/>
        </p:nvSpPr>
        <p:spPr>
          <a:xfrm>
            <a:off x="548640" y="713232"/>
            <a:ext cx="11091672" cy="8229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Seeded with Regodit's real security posture, not synthetic data</a:t>
            </a:r>
            <a:endParaRPr lang="en-US" sz="3000" dirty="0"/>
          </a:p>
        </p:txBody>
      </p:sp>
      <p:sp>
        <p:nvSpPr>
          <p:cNvPr id="4" name="Shape 2"/>
          <p:cNvSpPr/>
          <p:nvPr/>
        </p:nvSpPr>
        <p:spPr>
          <a:xfrm>
            <a:off x="548640" y="1920240"/>
            <a:ext cx="6949440" cy="4160520"/>
          </a:xfrm>
          <a:prstGeom prst="roundRect">
            <a:avLst>
              <a:gd name="adj" fmla="val 1758"/>
            </a:avLst>
          </a:prstGeom>
          <a:solidFill>
            <a:srgbClr val="1B2A41"/>
          </a:solidFill>
          <a:ln w="12700">
            <a:solidFill>
              <a:srgbClr val="1B2A41"/>
            </a:solidFill>
            <a:prstDash val="solid"/>
          </a:ln>
        </p:spPr>
      </p:sp>
      <p:pic>
        <p:nvPicPr>
          <p:cNvPr id="5" name="Image 0" descr="/tmp/claude-0/-home-claude/4d7af575-a239-5aaf-bcca-b53c3061710f/scratchpad/mock_ui.png">    </p:cNvPr>
          <p:cNvPicPr>
            <a:picLocks noChangeAspect="1"/>
          </p:cNvPicPr>
          <p:nvPr/>
        </p:nvPicPr>
        <p:blipFill>
          <a:blip r:embed="rId1"/>
          <a:srcRect l="0" r="0" t="0" b="0"/>
          <a:stretch/>
        </p:blipFill>
        <p:spPr>
          <a:xfrm>
            <a:off x="685800" y="2057400"/>
            <a:ext cx="6675120" cy="3886200"/>
          </a:xfrm>
          <a:prstGeom prst="rect">
            <a:avLst/>
          </a:prstGeom>
        </p:spPr>
      </p:pic>
      <p:sp>
        <p:nvSpPr>
          <p:cNvPr id="6" name="Text 3"/>
          <p:cNvSpPr txBox="1"/>
          <p:nvPr/>
        </p:nvSpPr>
        <p:spPr>
          <a:xfrm>
            <a:off x="7772400" y="2103120"/>
            <a:ext cx="1463040"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13</a:t>
            </a:r>
            <a:endParaRPr lang="en-US" sz="4000" dirty="0"/>
          </a:p>
        </p:txBody>
      </p:sp>
      <p:sp>
        <p:nvSpPr>
          <p:cNvPr id="7" name="Text 4"/>
          <p:cNvSpPr txBox="1"/>
          <p:nvPr/>
        </p:nvSpPr>
        <p:spPr>
          <a:xfrm>
            <a:off x="7772400" y="2880360"/>
            <a:ext cx="3749040" cy="502920"/>
          </a:xfrm>
          <a:prstGeom prst="rect">
            <a:avLst/>
          </a:prstGeom>
          <a:noFill/>
          <a:ln/>
        </p:spPr>
        <p:txBody>
          <a:bodyPr wrap="square" lIns="0" tIns="0" rIns="0" bIns="0" rtlCol="0" anchor="ctr"/>
          <a:lstStyle/>
          <a:p>
            <a:pPr indent="0" marL="0">
              <a:buNone/>
            </a:pPr>
            <a:r>
              <a:rPr lang="en-US" sz="1250" dirty="0">
                <a:solidFill>
                  <a:srgbClr val="AEB9C7"/>
                </a:solidFill>
                <a:latin typeface="Calibri" pitchFamily="34" charset="0"/>
                <a:ea typeface="Calibri" pitchFamily="34" charset="-122"/>
                <a:cs typeface="Calibri" pitchFamily="34" charset="-120"/>
              </a:rPr>
              <a:t>real company policies ingested</a:t>
            </a:r>
            <a:endParaRPr lang="en-US" sz="1250" dirty="0"/>
          </a:p>
        </p:txBody>
      </p:sp>
      <p:sp>
        <p:nvSpPr>
          <p:cNvPr id="8" name="Text 5"/>
          <p:cNvSpPr txBox="1"/>
          <p:nvPr/>
        </p:nvSpPr>
        <p:spPr>
          <a:xfrm>
            <a:off x="7772400" y="3474720"/>
            <a:ext cx="1463040"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65</a:t>
            </a:r>
            <a:endParaRPr lang="en-US" sz="4000" dirty="0"/>
          </a:p>
        </p:txBody>
      </p:sp>
      <p:sp>
        <p:nvSpPr>
          <p:cNvPr id="9" name="Text 6"/>
          <p:cNvSpPr txBox="1"/>
          <p:nvPr/>
        </p:nvSpPr>
        <p:spPr>
          <a:xfrm>
            <a:off x="7772400" y="4251960"/>
            <a:ext cx="3749040" cy="502920"/>
          </a:xfrm>
          <a:prstGeom prst="rect">
            <a:avLst/>
          </a:prstGeom>
          <a:noFill/>
          <a:ln/>
        </p:spPr>
        <p:txBody>
          <a:bodyPr wrap="square" lIns="0" tIns="0" rIns="0" bIns="0" rtlCol="0" anchor="ctr"/>
          <a:lstStyle/>
          <a:p>
            <a:pPr indent="0" marL="0">
              <a:buNone/>
            </a:pPr>
            <a:r>
              <a:rPr lang="en-US" sz="1250" dirty="0">
                <a:solidFill>
                  <a:srgbClr val="AEB9C7"/>
                </a:solidFill>
                <a:latin typeface="Calibri" pitchFamily="34" charset="0"/>
                <a:ea typeface="Calibri" pitchFamily="34" charset="-122"/>
                <a:cs typeface="Calibri" pitchFamily="34" charset="-120"/>
              </a:rPr>
              <a:t>real vendor questionnaire questions</a:t>
            </a:r>
            <a:endParaRPr lang="en-US" sz="1250" dirty="0"/>
          </a:p>
        </p:txBody>
      </p:sp>
      <p:sp>
        <p:nvSpPr>
          <p:cNvPr id="10" name="Text 7"/>
          <p:cNvSpPr txBox="1"/>
          <p:nvPr/>
        </p:nvSpPr>
        <p:spPr>
          <a:xfrm>
            <a:off x="7772400" y="4846320"/>
            <a:ext cx="1463040"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18</a:t>
            </a:r>
            <a:endParaRPr lang="en-US" sz="4000" dirty="0"/>
          </a:p>
        </p:txBody>
      </p:sp>
      <p:sp>
        <p:nvSpPr>
          <p:cNvPr id="11" name="Text 8"/>
          <p:cNvSpPr txBox="1"/>
          <p:nvPr/>
        </p:nvSpPr>
        <p:spPr>
          <a:xfrm>
            <a:off x="7772400" y="5623560"/>
            <a:ext cx="3749040" cy="502920"/>
          </a:xfrm>
          <a:prstGeom prst="rect">
            <a:avLst/>
          </a:prstGeom>
          <a:noFill/>
          <a:ln/>
        </p:spPr>
        <p:txBody>
          <a:bodyPr wrap="square" lIns="0" tIns="0" rIns="0" bIns="0" rtlCol="0" anchor="ctr"/>
          <a:lstStyle/>
          <a:p>
            <a:pPr indent="0" marL="0">
              <a:buNone/>
            </a:pPr>
            <a:r>
              <a:rPr lang="en-US" sz="1250" dirty="0">
                <a:solidFill>
                  <a:srgbClr val="AEB9C7"/>
                </a:solidFill>
                <a:latin typeface="Calibri" pitchFamily="34" charset="0"/>
                <a:ea typeface="Calibri" pitchFamily="34" charset="-122"/>
                <a:cs typeface="Calibri" pitchFamily="34" charset="-120"/>
              </a:rPr>
              <a:t>sources hashed, chunked, embedded</a:t>
            </a:r>
            <a:endParaRPr lang="en-US" sz="1250" dirty="0"/>
          </a:p>
        </p:txBody>
      </p:sp>
      <p:sp>
        <p:nvSpPr>
          <p:cNvPr id="12" name="Text 9"/>
          <p:cNvSpPr txBox="1"/>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EVIDENCE, NOT CHUNKS</a:t>
            </a:r>
            <a:endParaRPr lang="en-US" sz="1200" dirty="0"/>
          </a:p>
        </p:txBody>
      </p:sp>
      <p:sp>
        <p:nvSpPr>
          <p:cNvPr id="3" name="Text 1"/>
          <p:cNvSpPr txBox="1"/>
          <p:nvPr/>
        </p:nvSpPr>
        <p:spPr>
          <a:xfrm>
            <a:off x="548640" y="713232"/>
            <a:ext cx="11091672" cy="822960"/>
          </a:xfrm>
          <a:prstGeom prst="rect">
            <a:avLst/>
          </a:prstGeom>
          <a:noFill/>
          <a:ln/>
        </p:spPr>
        <p:txBody>
          <a:bodyPr wrap="square" lIns="0" tIns="0" rIns="0" bIns="0" rtlCol="0" anchor="ctr"/>
          <a:lstStyle/>
          <a:p>
            <a:pPr indent="0" marL="0">
              <a:buNone/>
            </a:pPr>
            <a:r>
              <a:rPr lang="en-US" sz="3000" b="1" dirty="0">
                <a:solidFill>
                  <a:srgbClr val="17202B"/>
                </a:solidFill>
                <a:latin typeface="Cambria" pitchFamily="34" charset="0"/>
                <a:ea typeface="Cambria" pitchFamily="34" charset="-122"/>
                <a:cs typeface="Cambria" pitchFamily="34" charset="-120"/>
              </a:rPr>
              <a:t>A retrieved passage is evidence. A claim is the answer.</a:t>
            </a:r>
            <a:endParaRPr lang="en-US" sz="3000" dirty="0"/>
          </a:p>
        </p:txBody>
      </p:sp>
      <p:sp>
        <p:nvSpPr>
          <p:cNvPr id="4" name="Text 2"/>
          <p:cNvSpPr txBox="1"/>
          <p:nvPr/>
        </p:nvSpPr>
        <p:spPr>
          <a:xfrm>
            <a:off x="548640" y="1783080"/>
            <a:ext cx="11064240" cy="548640"/>
          </a:xfrm>
          <a:prstGeom prst="rect">
            <a:avLst/>
          </a:prstGeom>
          <a:noFill/>
          <a:ln/>
        </p:spPr>
        <p:txBody>
          <a:bodyPr wrap="square" lIns="0" tIns="0" rIns="0" bIns="0" rtlCol="0" anchor="ctr"/>
          <a:lstStyle/>
          <a:p>
            <a:pPr indent="0" marL="0">
              <a:buNone/>
            </a:pPr>
            <a:r>
              <a:rPr lang="en-US" sz="1300" i="1" dirty="0">
                <a:solidFill>
                  <a:srgbClr val="5B6B79"/>
                </a:solidFill>
                <a:latin typeface="Calibri" pitchFamily="34" charset="0"/>
                <a:ea typeface="Calibri" pitchFamily="34" charset="-122"/>
                <a:cs typeface="Calibri" pitchFamily="34" charset="-120"/>
              </a:rPr>
              <a:t>retrieved chunks  →  LLM extracts candidate claims  →  deterministic code compares  →  claim saved with evidence  →  questionnaire status recalculated</a:t>
            </a:r>
            <a:endParaRPr lang="en-US" sz="1300" dirty="0"/>
          </a:p>
        </p:txBody>
      </p:sp>
      <p:sp>
        <p:nvSpPr>
          <p:cNvPr id="5" name="Shape 3"/>
          <p:cNvSpPr/>
          <p:nvPr/>
        </p:nvSpPr>
        <p:spPr>
          <a:xfrm>
            <a:off x="548640" y="2514600"/>
            <a:ext cx="5943600" cy="3657600"/>
          </a:xfrm>
          <a:prstGeom prst="roundRect">
            <a:avLst>
              <a:gd name="adj" fmla="val 2500"/>
            </a:avLst>
          </a:prstGeom>
          <a:solidFill>
            <a:srgbClr val="17202B"/>
          </a:solidFill>
          <a:ln w="12700">
            <a:solidFill>
              <a:srgbClr val="17202B"/>
            </a:solidFill>
            <a:prstDash val="solid"/>
          </a:ln>
        </p:spPr>
      </p:sp>
      <p:sp>
        <p:nvSpPr>
          <p:cNvPr id="6" name="Text 4"/>
          <p:cNvSpPr txBox="1"/>
          <p:nvPr/>
        </p:nvSpPr>
        <p:spPr>
          <a:xfrm>
            <a:off x="822960" y="2743200"/>
            <a:ext cx="5394960" cy="3200400"/>
          </a:xfrm>
          <a:prstGeom prst="rect">
            <a:avLst/>
          </a:prstGeom>
          <a:noFill/>
          <a:ln/>
        </p:spPr>
        <p:txBody>
          <a:bodyPr wrap="square" lIns="0" tIns="0" rIns="0" bIns="0" rtlCol="0" anchor="ctr"/>
          <a:lstStyle/>
          <a:p>
            <a:pPr indent="0" marL="0">
              <a:lnSpc>
                <a:spcPts val="2200"/>
              </a:lnSpc>
              <a:buNone/>
            </a:pPr>
            <a:r>
              <a:rPr lang="en-US" sz="1400" dirty="0">
                <a:solidFill>
                  <a:srgbClr val="D7E3F0"/>
                </a:solidFill>
                <a:latin typeface="Courier New" pitchFamily="34" charset="0"/>
                <a:ea typeface="Courier New" pitchFamily="34" charset="-122"/>
                <a:cs typeface="Courier New" pitchFamily="34" charset="-120"/>
              </a:rPr>
              <a:t>{</a:t>
            </a:r>
            <a:endParaRPr lang="en-US" sz="1400" dirty="0"/>
          </a:p>
          <a:p>
            <a:pPr indent="0" marL="0">
              <a:lnSpc>
                <a:spcPts val="2200"/>
              </a:lnSpc>
              <a:buNone/>
            </a:pPr>
            <a:r>
              <a:rPr lang="en-US" sz="1400" dirty="0">
                <a:solidFill>
                  <a:srgbClr val="D7E3F0"/>
                </a:solidFill>
                <a:latin typeface="Courier New" pitchFamily="34" charset="0"/>
                <a:ea typeface="Courier New" pitchFamily="34" charset="-122"/>
                <a:cs typeface="Courier New" pitchFamily="34" charset="-120"/>
              </a:rPr>
              <a:t>  "subject": "mfa",</a:t>
            </a:r>
            <a:endParaRPr lang="en-US" sz="1400" dirty="0"/>
          </a:p>
          <a:p>
            <a:pPr indent="0" marL="0">
              <a:lnSpc>
                <a:spcPts val="2200"/>
              </a:lnSpc>
              <a:buNone/>
            </a:pPr>
            <a:r>
              <a:rPr lang="en-US" sz="1400" dirty="0">
                <a:solidFill>
                  <a:srgbClr val="D7E3F0"/>
                </a:solidFill>
                <a:latin typeface="Courier New" pitchFamily="34" charset="0"/>
                <a:ea typeface="Courier New" pitchFamily="34" charset="-122"/>
                <a:cs typeface="Courier New" pitchFamily="34" charset="-120"/>
              </a:rPr>
              <a:t>  "property": "enabled",</a:t>
            </a:r>
            <a:endParaRPr lang="en-US" sz="1400" dirty="0"/>
          </a:p>
          <a:p>
            <a:pPr indent="0" marL="0">
              <a:lnSpc>
                <a:spcPts val="2200"/>
              </a:lnSpc>
              <a:buNone/>
            </a:pPr>
            <a:r>
              <a:rPr lang="en-US" sz="1400" dirty="0">
                <a:solidFill>
                  <a:srgbClr val="D7E3F0"/>
                </a:solidFill>
                <a:latin typeface="Courier New" pitchFamily="34" charset="0"/>
                <a:ea typeface="Courier New" pitchFamily="34" charset="-122"/>
                <a:cs typeface="Courier New" pitchFamily="34" charset="-120"/>
              </a:rPr>
              <a:t>  "value": true,</a:t>
            </a:r>
            <a:endParaRPr lang="en-US" sz="1400" dirty="0"/>
          </a:p>
          <a:p>
            <a:pPr indent="0" marL="0">
              <a:lnSpc>
                <a:spcPts val="2200"/>
              </a:lnSpc>
              <a:buNone/>
            </a:pPr>
            <a:r>
              <a:rPr lang="en-US" sz="1400" dirty="0">
                <a:solidFill>
                  <a:srgbClr val="D7E3F0"/>
                </a:solidFill>
                <a:latin typeface="Courier New" pitchFamily="34" charset="0"/>
                <a:ea typeface="Courier New" pitchFamily="34" charset="-122"/>
                <a:cs typeface="Courier New" pitchFamily="34" charset="-120"/>
              </a:rPr>
              <a:t>  "scope": "Google Workspace",</a:t>
            </a:r>
            <a:endParaRPr lang="en-US" sz="1400" dirty="0"/>
          </a:p>
          <a:p>
            <a:pPr indent="0" marL="0">
              <a:lnSpc>
                <a:spcPts val="2200"/>
              </a:lnSpc>
              <a:buNone/>
            </a:pPr>
            <a:r>
              <a:rPr lang="en-US" sz="1400" dirty="0">
                <a:solidFill>
                  <a:srgbClr val="D7E3F0"/>
                </a:solidFill>
                <a:latin typeface="Courier New" pitchFamily="34" charset="0"/>
                <a:ea typeface="Courier New" pitchFamily="34" charset="-122"/>
                <a:cs typeface="Courier New" pitchFamily="34" charset="-120"/>
              </a:rPr>
              <a:t>  "status": "verified",</a:t>
            </a:r>
            <a:endParaRPr lang="en-US" sz="1400" dirty="0"/>
          </a:p>
          <a:p>
            <a:pPr indent="0" marL="0">
              <a:lnSpc>
                <a:spcPts val="2200"/>
              </a:lnSpc>
              <a:buNone/>
            </a:pPr>
            <a:r>
              <a:rPr lang="en-US" sz="1400" dirty="0">
                <a:solidFill>
                  <a:srgbClr val="D7E3F0"/>
                </a:solidFill>
                <a:latin typeface="Courier New" pitchFamily="34" charset="0"/>
                <a:ea typeface="Courier New" pitchFamily="34" charset="-122"/>
                <a:cs typeface="Courier New" pitchFamily="34" charset="-120"/>
              </a:rPr>
              <a:t>  "evidence": ["chunk-123"],</a:t>
            </a:r>
            <a:endParaRPr lang="en-US" sz="1400" dirty="0"/>
          </a:p>
          <a:p>
            <a:pPr indent="0" marL="0">
              <a:lnSpc>
                <a:spcPts val="2200"/>
              </a:lnSpc>
              <a:buNone/>
            </a:pPr>
            <a:r>
              <a:rPr lang="en-US" sz="1400" dirty="0">
                <a:solidFill>
                  <a:srgbClr val="D7E3F0"/>
                </a:solidFill>
                <a:latin typeface="Courier New" pitchFamily="34" charset="0"/>
                <a:ea typeface="Courier New" pitchFamily="34" charset="-122"/>
                <a:cs typeface="Courier New" pitchFamily="34" charset="-120"/>
              </a:rPr>
              <a:t>  "confidence": 0.94</a:t>
            </a:r>
            <a:endParaRPr lang="en-US" sz="1400" dirty="0"/>
          </a:p>
          <a:p>
            <a:pPr indent="0" marL="0">
              <a:lnSpc>
                <a:spcPts val="2200"/>
              </a:lnSpc>
              <a:buNone/>
            </a:pPr>
            <a:r>
              <a:rPr lang="en-US" sz="1400" dirty="0">
                <a:solidFill>
                  <a:srgbClr val="D7E3F0"/>
                </a:solidFill>
                <a:latin typeface="Courier New" pitchFamily="34" charset="0"/>
                <a:ea typeface="Courier New" pitchFamily="34" charset="-122"/>
                <a:cs typeface="Courier New" pitchFamily="34" charset="-120"/>
              </a:rPr>
              <a:t>}</a:t>
            </a:r>
            <a:endParaRPr lang="en-US" sz="1400" dirty="0"/>
          </a:p>
        </p:txBody>
      </p:sp>
      <p:sp>
        <p:nvSpPr>
          <p:cNvPr id="7" name="Shape 5"/>
          <p:cNvSpPr/>
          <p:nvPr/>
        </p:nvSpPr>
        <p:spPr>
          <a:xfrm>
            <a:off x="6858000" y="2514600"/>
            <a:ext cx="438912" cy="438912"/>
          </a:xfrm>
          <a:prstGeom prst="ellipse">
            <a:avLst/>
          </a:prstGeom>
          <a:solidFill>
            <a:srgbClr val="1B8A5A"/>
          </a:solidFill>
          <a:ln w="12700">
            <a:solidFill>
              <a:srgbClr val="1B8A5A"/>
            </a:solidFill>
            <a:prstDash val="solid"/>
          </a:ln>
        </p:spPr>
      </p:sp>
      <p:pic>
        <p:nvPicPr>
          <p:cNvPr id="8" name="Image 0" descr="/tmp/claude-0/-home-claude/4d7af575-a239-5aaf-bcca-b53c3061710f/scratchpad/icons/check-white.png">    </p:cNvPr>
          <p:cNvPicPr>
            <a:picLocks noChangeAspect="1"/>
          </p:cNvPicPr>
          <p:nvPr/>
        </p:nvPicPr>
        <p:blipFill>
          <a:blip r:embed="rId1"/>
          <a:stretch>
            <a:fillRect/>
          </a:stretch>
        </p:blipFill>
        <p:spPr>
          <a:xfrm>
            <a:off x="6972117" y="2628717"/>
            <a:ext cx="210678" cy="210678"/>
          </a:xfrm>
          <a:prstGeom prst="rect">
            <a:avLst/>
          </a:prstGeom>
        </p:spPr>
      </p:pic>
      <p:sp>
        <p:nvSpPr>
          <p:cNvPr id="9" name="Text 6"/>
          <p:cNvSpPr txBox="1"/>
          <p:nvPr/>
        </p:nvSpPr>
        <p:spPr>
          <a:xfrm>
            <a:off x="7452360" y="2496312"/>
            <a:ext cx="4206240" cy="777240"/>
          </a:xfrm>
          <a:prstGeom prst="rect">
            <a:avLst/>
          </a:prstGeom>
          <a:noFill/>
          <a:ln/>
        </p:spPr>
        <p:txBody>
          <a:bodyPr wrap="square" lIns="0" tIns="0" rIns="0" bIns="0" rtlCol="0" anchor="ctr"/>
          <a:lstStyle/>
          <a:p>
            <a:pPr indent="0" marL="0">
              <a:buNone/>
            </a:pPr>
            <a:r>
              <a:rPr lang="en-US" sz="1300" dirty="0">
                <a:solidFill>
                  <a:srgbClr val="17202B"/>
                </a:solidFill>
                <a:latin typeface="Calibri" pitchFamily="34" charset="0"/>
                <a:ea typeface="Calibri" pitchFamily="34" charset="-122"/>
                <a:cs typeface="Calibri" pitchFamily="34" charset="-120"/>
              </a:rPr>
              <a:t>Never verified without evidence</a:t>
            </a:r>
            <a:endParaRPr lang="en-US" sz="1300" dirty="0"/>
          </a:p>
        </p:txBody>
      </p:sp>
      <p:sp>
        <p:nvSpPr>
          <p:cNvPr id="10" name="Shape 7"/>
          <p:cNvSpPr/>
          <p:nvPr/>
        </p:nvSpPr>
        <p:spPr>
          <a:xfrm>
            <a:off x="6858000" y="3429000"/>
            <a:ext cx="438912" cy="438912"/>
          </a:xfrm>
          <a:prstGeom prst="ellipse">
            <a:avLst/>
          </a:prstGeom>
          <a:solidFill>
            <a:srgbClr val="1C7293"/>
          </a:solidFill>
          <a:ln w="12700">
            <a:solidFill>
              <a:srgbClr val="1C7293"/>
            </a:solidFill>
            <a:prstDash val="solid"/>
          </a:ln>
        </p:spPr>
      </p:sp>
      <p:pic>
        <p:nvPicPr>
          <p:cNvPr id="11" name="Image 1" descr="/tmp/claude-0/-home-claude/4d7af575-a239-5aaf-bcca-b53c3061710f/scratchpad/icons/message-white.png">    </p:cNvPr>
          <p:cNvPicPr>
            <a:picLocks noChangeAspect="1"/>
          </p:cNvPicPr>
          <p:nvPr/>
        </p:nvPicPr>
        <p:blipFill>
          <a:blip r:embed="rId2"/>
          <a:stretch>
            <a:fillRect/>
          </a:stretch>
        </p:blipFill>
        <p:spPr>
          <a:xfrm>
            <a:off x="6972117" y="3543117"/>
            <a:ext cx="210678" cy="210678"/>
          </a:xfrm>
          <a:prstGeom prst="rect">
            <a:avLst/>
          </a:prstGeom>
        </p:spPr>
      </p:pic>
      <p:sp>
        <p:nvSpPr>
          <p:cNvPr id="12" name="Text 8"/>
          <p:cNvSpPr txBox="1"/>
          <p:nvPr/>
        </p:nvSpPr>
        <p:spPr>
          <a:xfrm>
            <a:off x="7452360" y="3410712"/>
            <a:ext cx="4206240" cy="777240"/>
          </a:xfrm>
          <a:prstGeom prst="rect">
            <a:avLst/>
          </a:prstGeom>
          <a:noFill/>
          <a:ln/>
        </p:spPr>
        <p:txBody>
          <a:bodyPr wrap="square" lIns="0" tIns="0" rIns="0" bIns="0" rtlCol="0" anchor="ctr"/>
          <a:lstStyle/>
          <a:p>
            <a:pPr indent="0" marL="0">
              <a:buNone/>
            </a:pPr>
            <a:r>
              <a:rPr lang="en-US" sz="1300" dirty="0">
                <a:solidFill>
                  <a:srgbClr val="17202B"/>
                </a:solidFill>
                <a:latin typeface="Calibri" pitchFamily="34" charset="0"/>
                <a:ea typeface="Calibri" pitchFamily="34" charset="-122"/>
                <a:cs typeface="Calibri" pitchFamily="34" charset="-120"/>
              </a:rPr>
              <a:t>A person's word alone is user_confirmed, not verified</a:t>
            </a:r>
            <a:endParaRPr lang="en-US" sz="1300" dirty="0"/>
          </a:p>
        </p:txBody>
      </p:sp>
      <p:sp>
        <p:nvSpPr>
          <p:cNvPr id="13" name="Shape 9"/>
          <p:cNvSpPr/>
          <p:nvPr/>
        </p:nvSpPr>
        <p:spPr>
          <a:xfrm>
            <a:off x="6858000" y="4343400"/>
            <a:ext cx="438912" cy="438912"/>
          </a:xfrm>
          <a:prstGeom prst="ellipse">
            <a:avLst/>
          </a:prstGeom>
          <a:solidFill>
            <a:srgbClr val="C0392B"/>
          </a:solidFill>
          <a:ln w="12700">
            <a:solidFill>
              <a:srgbClr val="C0392B"/>
            </a:solidFill>
            <a:prstDash val="solid"/>
          </a:ln>
        </p:spPr>
      </p:sp>
      <p:pic>
        <p:nvPicPr>
          <p:cNvPr id="14" name="Image 2" descr="/tmp/claude-0/-home-claude/4d7af575-a239-5aaf-bcca-b53c3061710f/scratchpad/icons/alert-white.png">    </p:cNvPr>
          <p:cNvPicPr>
            <a:picLocks noChangeAspect="1"/>
          </p:cNvPicPr>
          <p:nvPr/>
        </p:nvPicPr>
        <p:blipFill>
          <a:blip r:embed="rId3"/>
          <a:stretch>
            <a:fillRect/>
          </a:stretch>
        </p:blipFill>
        <p:spPr>
          <a:xfrm>
            <a:off x="6972117" y="4457517"/>
            <a:ext cx="210678" cy="210678"/>
          </a:xfrm>
          <a:prstGeom prst="rect">
            <a:avLst/>
          </a:prstGeom>
        </p:spPr>
      </p:pic>
      <p:sp>
        <p:nvSpPr>
          <p:cNvPr id="15" name="Text 10"/>
          <p:cNvSpPr txBox="1"/>
          <p:nvPr/>
        </p:nvSpPr>
        <p:spPr>
          <a:xfrm>
            <a:off x="7452360" y="4325112"/>
            <a:ext cx="4206240" cy="777240"/>
          </a:xfrm>
          <a:prstGeom prst="rect">
            <a:avLst/>
          </a:prstGeom>
          <a:noFill/>
          <a:ln/>
        </p:spPr>
        <p:txBody>
          <a:bodyPr wrap="square" lIns="0" tIns="0" rIns="0" bIns="0" rtlCol="0" anchor="ctr"/>
          <a:lstStyle/>
          <a:p>
            <a:pPr indent="0" marL="0">
              <a:buNone/>
            </a:pPr>
            <a:r>
              <a:rPr lang="en-US" sz="1300" dirty="0">
                <a:solidFill>
                  <a:srgbClr val="17202B"/>
                </a:solidFill>
                <a:latin typeface="Calibri" pitchFamily="34" charset="0"/>
                <a:ea typeface="Calibri" pitchFamily="34" charset="-122"/>
                <a:cs typeface="Calibri" pitchFamily="34" charset="-120"/>
              </a:rPr>
              <a:t>Two disagreeing claims become a conflict, never a guess</a:t>
            </a:r>
            <a:endParaRPr lang="en-US" sz="1300" dirty="0"/>
          </a:p>
        </p:txBody>
      </p:sp>
      <p:sp>
        <p:nvSpPr>
          <p:cNvPr id="16" name="Shape 11"/>
          <p:cNvSpPr/>
          <p:nvPr/>
        </p:nvSpPr>
        <p:spPr>
          <a:xfrm>
            <a:off x="6858000" y="5257800"/>
            <a:ext cx="438912" cy="438912"/>
          </a:xfrm>
          <a:prstGeom prst="ellipse">
            <a:avLst/>
          </a:prstGeom>
          <a:solidFill>
            <a:srgbClr val="C98A2C"/>
          </a:solidFill>
          <a:ln w="12700">
            <a:solidFill>
              <a:srgbClr val="C98A2C"/>
            </a:solidFill>
            <a:prstDash val="solid"/>
          </a:ln>
        </p:spPr>
      </p:sp>
      <p:pic>
        <p:nvPicPr>
          <p:cNvPr id="17" name="Image 3" descr="/tmp/claude-0/-home-claude/4d7af575-a239-5aaf-bcca-b53c3061710f/scratchpad/icons/repeat-white.png">    </p:cNvPr>
          <p:cNvPicPr>
            <a:picLocks noChangeAspect="1"/>
          </p:cNvPicPr>
          <p:nvPr/>
        </p:nvPicPr>
        <p:blipFill>
          <a:blip r:embed="rId4"/>
          <a:stretch>
            <a:fillRect/>
          </a:stretch>
        </p:blipFill>
        <p:spPr>
          <a:xfrm>
            <a:off x="6972117" y="5371917"/>
            <a:ext cx="210678" cy="210678"/>
          </a:xfrm>
          <a:prstGeom prst="rect">
            <a:avLst/>
          </a:prstGeom>
        </p:spPr>
      </p:pic>
      <p:sp>
        <p:nvSpPr>
          <p:cNvPr id="18" name="Text 12"/>
          <p:cNvSpPr txBox="1"/>
          <p:nvPr/>
        </p:nvSpPr>
        <p:spPr>
          <a:xfrm>
            <a:off x="7452360" y="5239512"/>
            <a:ext cx="4206240" cy="777240"/>
          </a:xfrm>
          <a:prstGeom prst="rect">
            <a:avLst/>
          </a:prstGeom>
          <a:noFill/>
          <a:ln/>
        </p:spPr>
        <p:txBody>
          <a:bodyPr wrap="square" lIns="0" tIns="0" rIns="0" bIns="0" rtlCol="0" anchor="ctr"/>
          <a:lstStyle/>
          <a:p>
            <a:pPr indent="0" marL="0">
              <a:buNone/>
            </a:pPr>
            <a:r>
              <a:rPr lang="en-US" sz="1300" dirty="0">
                <a:solidFill>
                  <a:srgbClr val="17202B"/>
                </a:solidFill>
                <a:latin typeface="Calibri" pitchFamily="34" charset="0"/>
                <a:ea typeface="Calibri" pitchFamily="34" charset="-122"/>
                <a:cs typeface="Calibri" pitchFamily="34" charset="-120"/>
              </a:rPr>
              <a:t>Corrections create a new version, they never overwrite history</a:t>
            </a:r>
            <a:endParaRPr lang="en-US" sz="1300" dirty="0"/>
          </a:p>
        </p:txBody>
      </p:sp>
      <p:sp>
        <p:nvSpPr>
          <p:cNvPr id="19" name="Text 13"/>
          <p:cNvSpPr txBox="1"/>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B7C0C9"/>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WHY THIS APPROACH</a:t>
            </a:r>
            <a:endParaRPr lang="en-US" sz="1200" dirty="0"/>
          </a:p>
        </p:txBody>
      </p:sp>
      <p:sp>
        <p:nvSpPr>
          <p:cNvPr id="3" name="Text 1"/>
          <p:cNvSpPr txBox="1"/>
          <p:nvPr/>
        </p:nvSpPr>
        <p:spPr>
          <a:xfrm>
            <a:off x="548640" y="713232"/>
            <a:ext cx="11091672" cy="822960"/>
          </a:xfrm>
          <a:prstGeom prst="rect">
            <a:avLst/>
          </a:prstGeom>
          <a:noFill/>
          <a:ln/>
        </p:spPr>
        <p:txBody>
          <a:bodyPr wrap="square" lIns="0" tIns="0" rIns="0" bIns="0" rtlCol="0" anchor="ctr"/>
          <a:lstStyle/>
          <a:p>
            <a:pPr indent="0" marL="0">
              <a:buNone/>
            </a:pPr>
            <a:r>
              <a:rPr lang="en-US" sz="3000" b="1" dirty="0">
                <a:solidFill>
                  <a:srgbClr val="17202B"/>
                </a:solidFill>
                <a:latin typeface="Cambria" pitchFamily="34" charset="0"/>
                <a:ea typeface="Cambria" pitchFamily="34" charset="-122"/>
                <a:cs typeface="Cambria" pitchFamily="34" charset="-120"/>
              </a:rPr>
              <a:t>What we didn't build, on purpose</a:t>
            </a:r>
            <a:endParaRPr lang="en-US" sz="3000" dirty="0"/>
          </a:p>
        </p:txBody>
      </p:sp>
      <p:sp>
        <p:nvSpPr>
          <p:cNvPr id="4" name="Text 2"/>
          <p:cNvSpPr txBox="1"/>
          <p:nvPr/>
        </p:nvSpPr>
        <p:spPr>
          <a:xfrm>
            <a:off x="548640" y="1828800"/>
            <a:ext cx="4434840" cy="777240"/>
          </a:xfrm>
          <a:prstGeom prst="rect">
            <a:avLst/>
          </a:prstGeom>
          <a:noFill/>
          <a:ln/>
        </p:spPr>
        <p:txBody>
          <a:bodyPr wrap="square" lIns="0" tIns="0" rIns="0" bIns="0" rtlCol="0" anchor="t"/>
          <a:lstStyle/>
          <a:p>
            <a:pPr indent="0" marL="0">
              <a:buNone/>
            </a:pPr>
            <a:r>
              <a:rPr lang="en-US" sz="1450" b="1" dirty="0">
                <a:solidFill>
                  <a:srgbClr val="121826"/>
                </a:solidFill>
                <a:latin typeface="Calibri" pitchFamily="34" charset="0"/>
                <a:ea typeface="Calibri" pitchFamily="34" charset="-122"/>
                <a:cs typeface="Calibri" pitchFamily="34" charset="-120"/>
              </a:rPr>
              <a:t>AI SDK, not LangGraph</a:t>
            </a:r>
            <a:endParaRPr lang="en-US" sz="1450" dirty="0"/>
          </a:p>
        </p:txBody>
      </p:sp>
      <p:sp>
        <p:nvSpPr>
          <p:cNvPr id="5" name="Text 3"/>
          <p:cNvSpPr txBox="1"/>
          <p:nvPr/>
        </p:nvSpPr>
        <p:spPr>
          <a:xfrm>
            <a:off x="5212080" y="1828800"/>
            <a:ext cx="6309360" cy="777240"/>
          </a:xfrm>
          <a:prstGeom prst="rect">
            <a:avLst/>
          </a:prstGeom>
          <a:noFill/>
          <a:ln/>
        </p:spPr>
        <p:txBody>
          <a:bodyPr wrap="square" lIns="0" tIns="0" rIns="0" bIns="0" rtlCol="0" anchor="t"/>
          <a:lstStyle/>
          <a:p>
            <a:pPr indent="0" marL="0">
              <a:buNone/>
            </a:pPr>
            <a:r>
              <a:rPr lang="en-US" sz="1300" dirty="0">
                <a:solidFill>
                  <a:srgbClr val="5B6B79"/>
                </a:solidFill>
                <a:latin typeface="Calibri" pitchFamily="34" charset="0"/>
                <a:ea typeface="Calibri" pitchFamily="34" charset="-122"/>
                <a:cs typeface="Calibri" pitchFamily="34" charset="-120"/>
              </a:rPr>
              <a:t>A bounded 5-step loop doesn't need durable checkpointed workflows yet.</a:t>
            </a:r>
            <a:endParaRPr lang="en-US" sz="1300" dirty="0"/>
          </a:p>
        </p:txBody>
      </p:sp>
      <p:sp>
        <p:nvSpPr>
          <p:cNvPr id="6" name="Shape 4"/>
          <p:cNvSpPr/>
          <p:nvPr/>
        </p:nvSpPr>
        <p:spPr>
          <a:xfrm>
            <a:off x="548640" y="2578608"/>
            <a:ext cx="11064240" cy="0"/>
          </a:xfrm>
          <a:prstGeom prst="line">
            <a:avLst/>
          </a:prstGeom>
          <a:noFill/>
          <a:ln w="12700">
            <a:solidFill>
              <a:srgbClr val="E1E6EB"/>
            </a:solidFill>
            <a:prstDash val="solid"/>
          </a:ln>
        </p:spPr>
      </p:sp>
      <p:sp>
        <p:nvSpPr>
          <p:cNvPr id="7" name="Text 5"/>
          <p:cNvSpPr txBox="1"/>
          <p:nvPr/>
        </p:nvSpPr>
        <p:spPr>
          <a:xfrm>
            <a:off x="548640" y="2743200"/>
            <a:ext cx="4434840" cy="777240"/>
          </a:xfrm>
          <a:prstGeom prst="rect">
            <a:avLst/>
          </a:prstGeom>
          <a:noFill/>
          <a:ln/>
        </p:spPr>
        <p:txBody>
          <a:bodyPr wrap="square" lIns="0" tIns="0" rIns="0" bIns="0" rtlCol="0" anchor="t"/>
          <a:lstStyle/>
          <a:p>
            <a:pPr indent="0" marL="0">
              <a:buNone/>
            </a:pPr>
            <a:r>
              <a:rPr lang="en-US" sz="1450" b="1" dirty="0">
                <a:solidFill>
                  <a:srgbClr val="121826"/>
                </a:solidFill>
                <a:latin typeface="Calibri" pitchFamily="34" charset="0"/>
                <a:ea typeface="Calibri" pitchFamily="34" charset="-122"/>
                <a:cs typeface="Calibri" pitchFamily="34" charset="-120"/>
              </a:rPr>
              <a:t>No Deep Agents</a:t>
            </a:r>
            <a:endParaRPr lang="en-US" sz="1450" dirty="0"/>
          </a:p>
        </p:txBody>
      </p:sp>
      <p:sp>
        <p:nvSpPr>
          <p:cNvPr id="8" name="Text 6"/>
          <p:cNvSpPr txBox="1"/>
          <p:nvPr/>
        </p:nvSpPr>
        <p:spPr>
          <a:xfrm>
            <a:off x="5212080" y="2743200"/>
            <a:ext cx="6309360" cy="777240"/>
          </a:xfrm>
          <a:prstGeom prst="rect">
            <a:avLst/>
          </a:prstGeom>
          <a:noFill/>
          <a:ln/>
        </p:spPr>
        <p:txBody>
          <a:bodyPr wrap="square" lIns="0" tIns="0" rIns="0" bIns="0" rtlCol="0" anchor="t"/>
          <a:lstStyle/>
          <a:p>
            <a:pPr indent="0" marL="0">
              <a:buNone/>
            </a:pPr>
            <a:r>
              <a:rPr lang="en-US" sz="1300" dirty="0">
                <a:solidFill>
                  <a:srgbClr val="5B6B79"/>
                </a:solidFill>
                <a:latin typeface="Calibri" pitchFamily="34" charset="0"/>
                <a:ea typeface="Calibri" pitchFamily="34" charset="-122"/>
                <a:cs typeface="Calibri" pitchFamily="34" charset="-120"/>
              </a:rPr>
              <a:t>This needs a controlled, auditable evidence trail, not autonomous delegation.</a:t>
            </a:r>
            <a:endParaRPr lang="en-US" sz="1300" dirty="0"/>
          </a:p>
        </p:txBody>
      </p:sp>
      <p:sp>
        <p:nvSpPr>
          <p:cNvPr id="9" name="Shape 7"/>
          <p:cNvSpPr/>
          <p:nvPr/>
        </p:nvSpPr>
        <p:spPr>
          <a:xfrm>
            <a:off x="548640" y="3493008"/>
            <a:ext cx="11064240" cy="0"/>
          </a:xfrm>
          <a:prstGeom prst="line">
            <a:avLst/>
          </a:prstGeom>
          <a:noFill/>
          <a:ln w="12700">
            <a:solidFill>
              <a:srgbClr val="E1E6EB"/>
            </a:solidFill>
            <a:prstDash val="solid"/>
          </a:ln>
        </p:spPr>
      </p:sp>
      <p:sp>
        <p:nvSpPr>
          <p:cNvPr id="10" name="Text 8"/>
          <p:cNvSpPr txBox="1"/>
          <p:nvPr/>
        </p:nvSpPr>
        <p:spPr>
          <a:xfrm>
            <a:off x="548640" y="3657600"/>
            <a:ext cx="4434840" cy="777240"/>
          </a:xfrm>
          <a:prstGeom prst="rect">
            <a:avLst/>
          </a:prstGeom>
          <a:noFill/>
          <a:ln/>
        </p:spPr>
        <p:txBody>
          <a:bodyPr wrap="square" lIns="0" tIns="0" rIns="0" bIns="0" rtlCol="0" anchor="t"/>
          <a:lstStyle/>
          <a:p>
            <a:pPr indent="0" marL="0">
              <a:buNone/>
            </a:pPr>
            <a:r>
              <a:rPr lang="en-US" sz="1450" b="1" dirty="0">
                <a:solidFill>
                  <a:srgbClr val="121826"/>
                </a:solidFill>
                <a:latin typeface="Calibri" pitchFamily="34" charset="0"/>
                <a:ea typeface="Calibri" pitchFamily="34" charset="-122"/>
                <a:cs typeface="Calibri" pitchFamily="34" charset="-120"/>
              </a:rPr>
              <a:t>Custom RAG, not a framework</a:t>
            </a:r>
            <a:endParaRPr lang="en-US" sz="1450" dirty="0"/>
          </a:p>
        </p:txBody>
      </p:sp>
      <p:sp>
        <p:nvSpPr>
          <p:cNvPr id="11" name="Text 9"/>
          <p:cNvSpPr txBox="1"/>
          <p:nvPr/>
        </p:nvSpPr>
        <p:spPr>
          <a:xfrm>
            <a:off x="5212080" y="3657600"/>
            <a:ext cx="6309360" cy="777240"/>
          </a:xfrm>
          <a:prstGeom prst="rect">
            <a:avLst/>
          </a:prstGeom>
          <a:noFill/>
          <a:ln/>
        </p:spPr>
        <p:txBody>
          <a:bodyPr wrap="square" lIns="0" tIns="0" rIns="0" bIns="0" rtlCol="0" anchor="t"/>
          <a:lstStyle/>
          <a:p>
            <a:pPr indent="0" marL="0">
              <a:buNone/>
            </a:pPr>
            <a:r>
              <a:rPr lang="en-US" sz="1300" dirty="0">
                <a:solidFill>
                  <a:srgbClr val="5B6B79"/>
                </a:solidFill>
                <a:latin typeface="Calibri" pitchFamily="34" charset="0"/>
                <a:ea typeface="Calibri" pitchFamily="34" charset="-122"/>
                <a:cs typeface="Calibri" pitchFamily="34" charset="-120"/>
              </a:rPr>
              <a:t>Versioned hashing and claim/evidence separation are specific to this domain.</a:t>
            </a:r>
            <a:endParaRPr lang="en-US" sz="1300" dirty="0"/>
          </a:p>
        </p:txBody>
      </p:sp>
      <p:sp>
        <p:nvSpPr>
          <p:cNvPr id="12" name="Shape 10"/>
          <p:cNvSpPr/>
          <p:nvPr/>
        </p:nvSpPr>
        <p:spPr>
          <a:xfrm>
            <a:off x="548640" y="4407408"/>
            <a:ext cx="11064240" cy="0"/>
          </a:xfrm>
          <a:prstGeom prst="line">
            <a:avLst/>
          </a:prstGeom>
          <a:noFill/>
          <a:ln w="12700">
            <a:solidFill>
              <a:srgbClr val="E1E6EB"/>
            </a:solidFill>
            <a:prstDash val="solid"/>
          </a:ln>
        </p:spPr>
      </p:sp>
      <p:sp>
        <p:nvSpPr>
          <p:cNvPr id="13" name="Text 11"/>
          <p:cNvSpPr txBox="1"/>
          <p:nvPr/>
        </p:nvSpPr>
        <p:spPr>
          <a:xfrm>
            <a:off x="548640" y="4572000"/>
            <a:ext cx="4434840" cy="777240"/>
          </a:xfrm>
          <a:prstGeom prst="rect">
            <a:avLst/>
          </a:prstGeom>
          <a:noFill/>
          <a:ln/>
        </p:spPr>
        <p:txBody>
          <a:bodyPr wrap="square" lIns="0" tIns="0" rIns="0" bIns="0" rtlCol="0" anchor="t"/>
          <a:lstStyle/>
          <a:p>
            <a:pPr indent="0" marL="0">
              <a:buNone/>
            </a:pPr>
            <a:r>
              <a:rPr lang="en-US" sz="1450" b="1" dirty="0">
                <a:solidFill>
                  <a:srgbClr val="121826"/>
                </a:solidFill>
                <a:latin typeface="Calibri" pitchFamily="34" charset="0"/>
                <a:ea typeface="Calibri" pitchFamily="34" charset="-122"/>
                <a:cs typeface="Calibri" pitchFamily="34" charset="-120"/>
              </a:rPr>
              <a:t>pgvector, not Azure AI Search</a:t>
            </a:r>
            <a:endParaRPr lang="en-US" sz="1450" dirty="0"/>
          </a:p>
        </p:txBody>
      </p:sp>
      <p:sp>
        <p:nvSpPr>
          <p:cNvPr id="14" name="Text 12"/>
          <p:cNvSpPr txBox="1"/>
          <p:nvPr/>
        </p:nvSpPr>
        <p:spPr>
          <a:xfrm>
            <a:off x="5212080" y="4572000"/>
            <a:ext cx="6309360" cy="777240"/>
          </a:xfrm>
          <a:prstGeom prst="rect">
            <a:avLst/>
          </a:prstGeom>
          <a:noFill/>
          <a:ln/>
        </p:spPr>
        <p:txBody>
          <a:bodyPr wrap="square" lIns="0" tIns="0" rIns="0" bIns="0" rtlCol="0" anchor="t"/>
          <a:lstStyle/>
          <a:p>
            <a:pPr indent="0" marL="0">
              <a:buNone/>
            </a:pPr>
            <a:r>
              <a:rPr lang="en-US" sz="1300" dirty="0">
                <a:solidFill>
                  <a:srgbClr val="5B6B79"/>
                </a:solidFill>
                <a:latin typeface="Calibri" pitchFamily="34" charset="0"/>
                <a:ea typeface="Calibri" pitchFamily="34" charset="-122"/>
                <a:cs typeface="Calibri" pitchFamily="34" charset="-120"/>
              </a:rPr>
              <a:t>One database for structured and vector data, no second system to sync.</a:t>
            </a:r>
            <a:endParaRPr lang="en-US" sz="1300" dirty="0"/>
          </a:p>
        </p:txBody>
      </p:sp>
      <p:sp>
        <p:nvSpPr>
          <p:cNvPr id="15" name="Shape 13"/>
          <p:cNvSpPr/>
          <p:nvPr/>
        </p:nvSpPr>
        <p:spPr>
          <a:xfrm>
            <a:off x="548640" y="5321808"/>
            <a:ext cx="11064240" cy="0"/>
          </a:xfrm>
          <a:prstGeom prst="line">
            <a:avLst/>
          </a:prstGeom>
          <a:noFill/>
          <a:ln w="12700">
            <a:solidFill>
              <a:srgbClr val="E1E6EB"/>
            </a:solidFill>
            <a:prstDash val="solid"/>
          </a:ln>
        </p:spPr>
      </p:sp>
      <p:sp>
        <p:nvSpPr>
          <p:cNvPr id="16" name="Text 14"/>
          <p:cNvSpPr txBox="1"/>
          <p:nvPr/>
        </p:nvSpPr>
        <p:spPr>
          <a:xfrm>
            <a:off x="548640" y="5486400"/>
            <a:ext cx="4434840" cy="777240"/>
          </a:xfrm>
          <a:prstGeom prst="rect">
            <a:avLst/>
          </a:prstGeom>
          <a:noFill/>
          <a:ln/>
        </p:spPr>
        <p:txBody>
          <a:bodyPr wrap="square" lIns="0" tIns="0" rIns="0" bIns="0" rtlCol="0" anchor="t"/>
          <a:lstStyle/>
          <a:p>
            <a:pPr indent="0" marL="0">
              <a:buNone/>
            </a:pPr>
            <a:r>
              <a:rPr lang="en-US" sz="1450" b="1" dirty="0">
                <a:solidFill>
                  <a:srgbClr val="121826"/>
                </a:solidFill>
                <a:latin typeface="Calibri" pitchFamily="34" charset="0"/>
                <a:ea typeface="Calibri" pitchFamily="34" charset="-122"/>
                <a:cs typeface="Calibri" pitchFamily="34" charset="-120"/>
              </a:rPr>
              <a:t>Direct connectors, not an abstraction</a:t>
            </a:r>
            <a:endParaRPr lang="en-US" sz="1450" dirty="0"/>
          </a:p>
        </p:txBody>
      </p:sp>
      <p:sp>
        <p:nvSpPr>
          <p:cNvPr id="17" name="Text 15"/>
          <p:cNvSpPr txBox="1"/>
          <p:nvPr/>
        </p:nvSpPr>
        <p:spPr>
          <a:xfrm>
            <a:off x="5212080" y="5486400"/>
            <a:ext cx="6309360" cy="777240"/>
          </a:xfrm>
          <a:prstGeom prst="rect">
            <a:avLst/>
          </a:prstGeom>
          <a:noFill/>
          <a:ln/>
        </p:spPr>
        <p:txBody>
          <a:bodyPr wrap="square" lIns="0" tIns="0" rIns="0" bIns="0" rtlCol="0" anchor="t"/>
          <a:lstStyle/>
          <a:p>
            <a:pPr indent="0" marL="0">
              <a:buNone/>
            </a:pPr>
            <a:r>
              <a:rPr lang="en-US" sz="1300" dirty="0">
                <a:solidFill>
                  <a:srgbClr val="5B6B79"/>
                </a:solidFill>
                <a:latin typeface="Calibri" pitchFamily="34" charset="0"/>
                <a:ea typeface="Calibri" pitchFamily="34" charset="-122"/>
                <a:cs typeface="Calibri" pitchFamily="34" charset="-120"/>
              </a:rPr>
              <a:t>Slack, Drive, and GitHub are wired up individually until there are enough real integrations to know what a shared interface should look like.</a:t>
            </a:r>
            <a:endParaRPr lang="en-US" sz="1300" dirty="0"/>
          </a:p>
        </p:txBody>
      </p:sp>
      <p:sp>
        <p:nvSpPr>
          <p:cNvPr id="18" name="Shape 16"/>
          <p:cNvSpPr/>
          <p:nvPr/>
        </p:nvSpPr>
        <p:spPr>
          <a:xfrm>
            <a:off x="548640" y="6236208"/>
            <a:ext cx="11064240" cy="0"/>
          </a:xfrm>
          <a:prstGeom prst="line">
            <a:avLst/>
          </a:prstGeom>
          <a:noFill/>
          <a:ln w="12700">
            <a:solidFill>
              <a:srgbClr val="E1E6EB"/>
            </a:solidFill>
            <a:prstDash val="solid"/>
          </a:ln>
        </p:spPr>
      </p:sp>
      <p:sp>
        <p:nvSpPr>
          <p:cNvPr id="19" name="Text 17"/>
          <p:cNvSpPr txBox="1"/>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B7C0C9"/>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1826"/>
        </a:solidFill>
      </p:bgPr>
    </p:bg>
    <p:spTree>
      <p:nvGrpSpPr>
        <p:cNvPr id="1" name=""/>
        <p:cNvGrpSpPr/>
        <p:nvPr/>
      </p:nvGrpSpPr>
      <p:grpSpPr>
        <a:xfrm>
          <a:off x="0" y="0"/>
          <a:ext cx="0" cy="0"/>
          <a:chOff x="0" y="0"/>
          <a:chExt cx="0" cy="0"/>
        </a:xfrm>
      </p:grpSpPr>
      <p:sp>
        <p:nvSpPr>
          <p:cNvPr id="2" name="Shape 0"/>
          <p:cNvSpPr/>
          <p:nvPr/>
        </p:nvSpPr>
        <p:spPr>
          <a:xfrm>
            <a:off x="-2286000" y="4114800"/>
            <a:ext cx="5486400" cy="5486400"/>
          </a:xfrm>
          <a:prstGeom prst="ellipse">
            <a:avLst/>
          </a:prstGeom>
          <a:solidFill>
            <a:srgbClr val="1B2A41"/>
          </a:solidFill>
          <a:ln w="12700">
            <a:solidFill>
              <a:srgbClr val="1B2A41"/>
            </a:solidFill>
            <a:prstDash val="solid"/>
          </a:ln>
        </p:spPr>
      </p:sp>
      <p:sp>
        <p:nvSpPr>
          <p:cNvPr id="3" name="Text 1"/>
          <p:cNvSpPr txBox="1"/>
          <p:nvPr/>
        </p:nvSpPr>
        <p:spPr>
          <a:xfrm>
            <a:off x="548640" y="640080"/>
            <a:ext cx="7315200" cy="548640"/>
          </a:xfrm>
          <a:prstGeom prst="rect">
            <a:avLst/>
          </a:prstGeom>
          <a:noFill/>
          <a:ln/>
        </p:spPr>
        <p:txBody>
          <a:bodyPr wrap="square" lIns="0" tIns="0" rIns="0" bIns="0" rtlCol="0" anchor="ctr"/>
          <a:lstStyle/>
          <a:p>
            <a:pPr indent="0" marL="0">
              <a:buNone/>
            </a:pPr>
            <a:r>
              <a:rPr lang="en-US" sz="1300" b="1" spc="200" kern="0" dirty="0">
                <a:solidFill>
                  <a:srgbClr val="8FA6C9"/>
                </a:solidFill>
                <a:latin typeface="Calibri" pitchFamily="34" charset="0"/>
                <a:ea typeface="Calibri" pitchFamily="34" charset="-122"/>
                <a:cs typeface="Calibri" pitchFamily="34" charset="-120"/>
              </a:rPr>
              <a:t>What's Next</a:t>
            </a:r>
            <a:endParaRPr lang="en-US" sz="1300" dirty="0"/>
          </a:p>
        </p:txBody>
      </p:sp>
      <p:sp>
        <p:nvSpPr>
          <p:cNvPr id="4" name="Text 2"/>
          <p:cNvSpPr txBox="1"/>
          <p:nvPr/>
        </p:nvSpPr>
        <p:spPr>
          <a:xfrm>
            <a:off x="548640" y="960120"/>
            <a:ext cx="914400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From demo to daily driver</a:t>
            </a:r>
            <a:endParaRPr lang="en-US" sz="3200" dirty="0"/>
          </a:p>
        </p:txBody>
      </p:sp>
      <p:sp>
        <p:nvSpPr>
          <p:cNvPr id="5" name="Shape 3"/>
          <p:cNvSpPr/>
          <p:nvPr/>
        </p:nvSpPr>
        <p:spPr>
          <a:xfrm>
            <a:off x="548640" y="2286000"/>
            <a:ext cx="548640" cy="548640"/>
          </a:xfrm>
          <a:prstGeom prst="ellipse">
            <a:avLst/>
          </a:prstGeom>
          <a:solidFill>
            <a:srgbClr val="CADCFC"/>
          </a:solidFill>
          <a:ln w="12700">
            <a:solidFill>
              <a:srgbClr val="CADCFC"/>
            </a:solidFill>
            <a:prstDash val="solid"/>
          </a:ln>
        </p:spPr>
      </p:sp>
      <p:pic>
        <p:nvPicPr>
          <p:cNvPr id="6" name="Image 0" descr="/tmp/claude-0/-home-claude/4d7af575-a239-5aaf-bcca-b53c3061710f/scratchpad/icons/branch-navy.png">    </p:cNvPr>
          <p:cNvPicPr>
            <a:picLocks noChangeAspect="1"/>
          </p:cNvPicPr>
          <p:nvPr/>
        </p:nvPicPr>
        <p:blipFill>
          <a:blip r:embed="rId1"/>
          <a:stretch>
            <a:fillRect/>
          </a:stretch>
        </p:blipFill>
        <p:spPr>
          <a:xfrm>
            <a:off x="691286" y="2428646"/>
            <a:ext cx="263347" cy="263347"/>
          </a:xfrm>
          <a:prstGeom prst="rect">
            <a:avLst/>
          </a:prstGeom>
        </p:spPr>
      </p:pic>
      <p:sp>
        <p:nvSpPr>
          <p:cNvPr id="7" name="Text 4"/>
          <p:cNvSpPr txBox="1"/>
          <p:nvPr/>
        </p:nvSpPr>
        <p:spPr>
          <a:xfrm>
            <a:off x="1325880" y="2267712"/>
            <a:ext cx="960120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Live Slack + GitHub sync</a:t>
            </a:r>
            <a:endParaRPr lang="en-US" sz="1600" dirty="0"/>
          </a:p>
        </p:txBody>
      </p:sp>
      <p:sp>
        <p:nvSpPr>
          <p:cNvPr id="8" name="Text 5"/>
          <p:cNvSpPr txBox="1"/>
          <p:nvPr/>
        </p:nvSpPr>
        <p:spPr>
          <a:xfrm>
            <a:off x="1325880" y="2633472"/>
            <a:ext cx="9601200" cy="457200"/>
          </a:xfrm>
          <a:prstGeom prst="rect">
            <a:avLst/>
          </a:prstGeom>
          <a:noFill/>
          <a:ln/>
        </p:spPr>
        <p:txBody>
          <a:bodyPr wrap="square" lIns="0" tIns="0" rIns="0" bIns="0" rtlCol="0" anchor="ctr"/>
          <a:lstStyle/>
          <a:p>
            <a:pPr indent="0" marL="0">
              <a:buNone/>
            </a:pPr>
            <a:r>
              <a:rPr lang="en-US" sz="1250" dirty="0">
                <a:solidFill>
                  <a:srgbClr val="AEB9C7"/>
                </a:solidFill>
                <a:latin typeface="Calibri" pitchFamily="34" charset="0"/>
                <a:ea typeface="Calibri" pitchFamily="34" charset="-122"/>
                <a:cs typeface="Calibri" pitchFamily="34" charset="-120"/>
              </a:rPr>
              <a:t>Move remaining connectors from demo mode to fully credentialed.</a:t>
            </a:r>
            <a:endParaRPr lang="en-US" sz="1250" dirty="0"/>
          </a:p>
        </p:txBody>
      </p:sp>
      <p:sp>
        <p:nvSpPr>
          <p:cNvPr id="9" name="Shape 6"/>
          <p:cNvSpPr/>
          <p:nvPr/>
        </p:nvSpPr>
        <p:spPr>
          <a:xfrm>
            <a:off x="548640" y="3337560"/>
            <a:ext cx="548640" cy="548640"/>
          </a:xfrm>
          <a:prstGeom prst="ellipse">
            <a:avLst/>
          </a:prstGeom>
          <a:solidFill>
            <a:srgbClr val="CADCFC"/>
          </a:solidFill>
          <a:ln w="12700">
            <a:solidFill>
              <a:srgbClr val="CADCFC"/>
            </a:solidFill>
            <a:prstDash val="solid"/>
          </a:ln>
        </p:spPr>
      </p:sp>
      <p:pic>
        <p:nvPicPr>
          <p:cNvPr id="10" name="Image 1" descr="/tmp/claude-0/-home-claude/4d7af575-a239-5aaf-bcca-b53c3061710f/scratchpad/icons/users-navy.png">    </p:cNvPr>
          <p:cNvPicPr>
            <a:picLocks noChangeAspect="1"/>
          </p:cNvPicPr>
          <p:nvPr/>
        </p:nvPicPr>
        <p:blipFill>
          <a:blip r:embed="rId2"/>
          <a:stretch>
            <a:fillRect/>
          </a:stretch>
        </p:blipFill>
        <p:spPr>
          <a:xfrm>
            <a:off x="691286" y="3480206"/>
            <a:ext cx="263347" cy="263347"/>
          </a:xfrm>
          <a:prstGeom prst="rect">
            <a:avLst/>
          </a:prstGeom>
        </p:spPr>
      </p:pic>
      <p:sp>
        <p:nvSpPr>
          <p:cNvPr id="11" name="Text 7"/>
          <p:cNvSpPr txBox="1"/>
          <p:nvPr/>
        </p:nvSpPr>
        <p:spPr>
          <a:xfrm>
            <a:off x="1325880" y="3319272"/>
            <a:ext cx="960120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Multi-workspace support</a:t>
            </a:r>
            <a:endParaRPr lang="en-US" sz="1600" dirty="0"/>
          </a:p>
        </p:txBody>
      </p:sp>
      <p:sp>
        <p:nvSpPr>
          <p:cNvPr id="12" name="Text 8"/>
          <p:cNvSpPr txBox="1"/>
          <p:nvPr/>
        </p:nvSpPr>
        <p:spPr>
          <a:xfrm>
            <a:off x="1325880" y="3685032"/>
            <a:ext cx="9601200" cy="457200"/>
          </a:xfrm>
          <a:prstGeom prst="rect">
            <a:avLst/>
          </a:prstGeom>
          <a:noFill/>
          <a:ln/>
        </p:spPr>
        <p:txBody>
          <a:bodyPr wrap="square" lIns="0" tIns="0" rIns="0" bIns="0" rtlCol="0" anchor="ctr"/>
          <a:lstStyle/>
          <a:p>
            <a:pPr indent="0" marL="0">
              <a:buNone/>
            </a:pPr>
            <a:r>
              <a:rPr lang="en-US" sz="1250" dirty="0">
                <a:solidFill>
                  <a:srgbClr val="AEB9C7"/>
                </a:solidFill>
                <a:latin typeface="Calibri" pitchFamily="34" charset="0"/>
                <a:ea typeface="Calibri" pitchFamily="34" charset="-122"/>
                <a:cs typeface="Calibri" pitchFamily="34" charset="-120"/>
              </a:rPr>
              <a:t>One analyst, many companies, isolated evidence per workspace.</a:t>
            </a:r>
            <a:endParaRPr lang="en-US" sz="1250" dirty="0"/>
          </a:p>
        </p:txBody>
      </p:sp>
      <p:sp>
        <p:nvSpPr>
          <p:cNvPr id="13" name="Shape 9"/>
          <p:cNvSpPr/>
          <p:nvPr/>
        </p:nvSpPr>
        <p:spPr>
          <a:xfrm>
            <a:off x="548640" y="4389120"/>
            <a:ext cx="548640" cy="548640"/>
          </a:xfrm>
          <a:prstGeom prst="ellipse">
            <a:avLst/>
          </a:prstGeom>
          <a:solidFill>
            <a:srgbClr val="CADCFC"/>
          </a:solidFill>
          <a:ln w="12700">
            <a:solidFill>
              <a:srgbClr val="CADCFC"/>
            </a:solidFill>
            <a:prstDash val="solid"/>
          </a:ln>
        </p:spPr>
      </p:sp>
      <p:pic>
        <p:nvPicPr>
          <p:cNvPr id="14" name="Image 2" descr="/tmp/claude-0/-home-claude/4d7af575-a239-5aaf-bcca-b53c3061710f/scratchpad/icons/shield-navy.png">    </p:cNvPr>
          <p:cNvPicPr>
            <a:picLocks noChangeAspect="1"/>
          </p:cNvPicPr>
          <p:nvPr/>
        </p:nvPicPr>
        <p:blipFill>
          <a:blip r:embed="rId3"/>
          <a:stretch>
            <a:fillRect/>
          </a:stretch>
        </p:blipFill>
        <p:spPr>
          <a:xfrm>
            <a:off x="691286" y="4531766"/>
            <a:ext cx="263347" cy="263347"/>
          </a:xfrm>
          <a:prstGeom prst="rect">
            <a:avLst/>
          </a:prstGeom>
        </p:spPr>
      </p:pic>
      <p:sp>
        <p:nvSpPr>
          <p:cNvPr id="15" name="Text 10"/>
          <p:cNvSpPr txBox="1"/>
          <p:nvPr/>
        </p:nvSpPr>
        <p:spPr>
          <a:xfrm>
            <a:off x="1325880" y="4370832"/>
            <a:ext cx="960120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SOC 2 evidence mapping</a:t>
            </a:r>
            <a:endParaRPr lang="en-US" sz="1600" dirty="0"/>
          </a:p>
        </p:txBody>
      </p:sp>
      <p:sp>
        <p:nvSpPr>
          <p:cNvPr id="16" name="Text 11"/>
          <p:cNvSpPr txBox="1"/>
          <p:nvPr/>
        </p:nvSpPr>
        <p:spPr>
          <a:xfrm>
            <a:off x="1325880" y="4736592"/>
            <a:ext cx="9601200" cy="457200"/>
          </a:xfrm>
          <a:prstGeom prst="rect">
            <a:avLst/>
          </a:prstGeom>
          <a:noFill/>
          <a:ln/>
        </p:spPr>
        <p:txBody>
          <a:bodyPr wrap="square" lIns="0" tIns="0" rIns="0" bIns="0" rtlCol="0" anchor="ctr"/>
          <a:lstStyle/>
          <a:p>
            <a:pPr indent="0" marL="0">
              <a:buNone/>
            </a:pPr>
            <a:r>
              <a:rPr lang="en-US" sz="1250" dirty="0">
                <a:solidFill>
                  <a:srgbClr val="AEB9C7"/>
                </a:solidFill>
                <a:latin typeface="Calibri" pitchFamily="34" charset="0"/>
                <a:ea typeface="Calibri" pitchFamily="34" charset="-122"/>
                <a:cs typeface="Calibri" pitchFamily="34" charset="-120"/>
              </a:rPr>
              <a:t>Map each questionnaire answer directly to its control framework.</a:t>
            </a:r>
            <a:endParaRPr lang="en-US" sz="1250" dirty="0"/>
          </a:p>
        </p:txBody>
      </p:sp>
      <p:sp>
        <p:nvSpPr>
          <p:cNvPr id="17" name="Text 12"/>
          <p:cNvSpPr txBox="1"/>
          <p:nvPr/>
        </p:nvSpPr>
        <p:spPr>
          <a:xfrm>
            <a:off x="548640" y="5760720"/>
            <a:ext cx="5486400" cy="54864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Thank you.</a:t>
            </a:r>
            <a:endParaRPr lang="en-US" sz="2200" dirty="0"/>
          </a:p>
        </p:txBody>
      </p:sp>
      <p:sp>
        <p:nvSpPr>
          <p:cNvPr id="18" name="Text 13"/>
          <p:cNvSpPr txBox="1"/>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6B79"/>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2026-09-05T20:23:45Z</dcterms:created>
  <dcterms:modified xsi:type="dcterms:W3CDTF">2026-09-05T20:23:45Z</dcterms:modified>
</cp:coreProperties>
</file>